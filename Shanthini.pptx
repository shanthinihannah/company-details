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93" r:id="rId2"/>
    <p:sldId id="285" r:id="rId3"/>
    <p:sldId id="307" r:id="rId4"/>
    <p:sldId id="306" r:id="rId5"/>
    <p:sldId id="279" r:id="rId6"/>
    <p:sldId id="289" r:id="rId7"/>
    <p:sldId id="290" r:id="rId8"/>
    <p:sldId id="291" r:id="rId9"/>
    <p:sldId id="292" r:id="rId10"/>
    <p:sldId id="272" r:id="rId11"/>
    <p:sldId id="282" r:id="rId12"/>
    <p:sldId id="288" r:id="rId13"/>
    <p:sldId id="294" r:id="rId14"/>
    <p:sldId id="295" r:id="rId15"/>
    <p:sldId id="296" r:id="rId16"/>
    <p:sldId id="308" r:id="rId17"/>
    <p:sldId id="309" r:id="rId18"/>
    <p:sldId id="310" r:id="rId19"/>
    <p:sldId id="297" r:id="rId20"/>
    <p:sldId id="298" r:id="rId21"/>
    <p:sldId id="300" r:id="rId22"/>
    <p:sldId id="268"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97" autoAdjust="0"/>
    <p:restoredTop sz="94660"/>
  </p:normalViewPr>
  <p:slideViewPr>
    <p:cSldViewPr snapToGrid="0">
      <p:cViewPr>
        <p:scale>
          <a:sx n="75" d="100"/>
          <a:sy n="75" d="100"/>
        </p:scale>
        <p:origin x="763" y="14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ED12DCE-ABCD-4719-82F0-B9BE16889102}" type="datetimeFigureOut">
              <a:rPr lang="en-US" smtClean="0"/>
              <a:t>2/5/2026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CFE51EB-C312-4A7C-91FF-4C0DA465E1A7}" type="slidenum">
              <a:rPr lang="en-US" smtClean="0"/>
              <a:t>‹#›</a:t>
            </a:fld>
            <a:endParaRPr lang="en-US"/>
          </a:p>
        </p:txBody>
      </p:sp>
    </p:spTree>
    <p:extLst>
      <p:ext uri="{BB962C8B-B14F-4D97-AF65-F5344CB8AC3E}">
        <p14:creationId xmlns:p14="http://schemas.microsoft.com/office/powerpoint/2010/main" val="16034390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AB567-B24A-4C51-B932-F928F8840E3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A9E4837-E5BA-4E03-A880-149ABF4ABDD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B3E7288-262A-4656-A799-CDE4DE125A63}"/>
              </a:ext>
            </a:extLst>
          </p:cNvPr>
          <p:cNvSpPr>
            <a:spLocks noGrp="1"/>
          </p:cNvSpPr>
          <p:nvPr>
            <p:ph type="dt" sz="half" idx="10"/>
          </p:nvPr>
        </p:nvSpPr>
        <p:spPr/>
        <p:txBody>
          <a:bodyPr/>
          <a:lstStyle/>
          <a:p>
            <a:fld id="{7056166D-58B5-46A8-A313-D033B514772D}" type="datetime1">
              <a:rPr lang="en-IN" smtClean="0"/>
              <a:t>05-02-2026</a:t>
            </a:fld>
            <a:endParaRPr lang="en-IN"/>
          </a:p>
        </p:txBody>
      </p:sp>
      <p:sp>
        <p:nvSpPr>
          <p:cNvPr id="5" name="Footer Placeholder 4">
            <a:extLst>
              <a:ext uri="{FF2B5EF4-FFF2-40B4-BE49-F238E27FC236}">
                <a16:creationId xmlns:a16="http://schemas.microsoft.com/office/drawing/2014/main" id="{71F5F7D8-A81C-4711-B62C-EBEA772C7B83}"/>
              </a:ext>
            </a:extLst>
          </p:cNvPr>
          <p:cNvSpPr>
            <a:spLocks noGrp="1"/>
          </p:cNvSpPr>
          <p:nvPr>
            <p:ph type="ftr" sz="quarter" idx="11"/>
          </p:nvPr>
        </p:nvSpPr>
        <p:spPr/>
        <p:txBody>
          <a:bodyPr/>
          <a:lstStyle/>
          <a:p>
            <a:r>
              <a:rPr lang="en-IN"/>
              <a:t>NGO MANAGEMENT SOFTWARE</a:t>
            </a:r>
          </a:p>
        </p:txBody>
      </p:sp>
      <p:sp>
        <p:nvSpPr>
          <p:cNvPr id="6" name="Slide Number Placeholder 5">
            <a:extLst>
              <a:ext uri="{FF2B5EF4-FFF2-40B4-BE49-F238E27FC236}">
                <a16:creationId xmlns:a16="http://schemas.microsoft.com/office/drawing/2014/main" id="{AE4DBE9D-BE88-4932-A260-A58B557BF127}"/>
              </a:ext>
            </a:extLst>
          </p:cNvPr>
          <p:cNvSpPr>
            <a:spLocks noGrp="1"/>
          </p:cNvSpPr>
          <p:nvPr>
            <p:ph type="sldNum" sz="quarter" idx="12"/>
          </p:nvPr>
        </p:nvSpPr>
        <p:spPr/>
        <p:txBody>
          <a:bodyPr/>
          <a:lstStyle/>
          <a:p>
            <a:fld id="{EC723807-FF10-4730-B603-EA98888C76C4}" type="slidenum">
              <a:rPr lang="en-IN" smtClean="0"/>
              <a:t>‹#›</a:t>
            </a:fld>
            <a:endParaRPr lang="en-IN"/>
          </a:p>
        </p:txBody>
      </p:sp>
    </p:spTree>
    <p:extLst>
      <p:ext uri="{BB962C8B-B14F-4D97-AF65-F5344CB8AC3E}">
        <p14:creationId xmlns:p14="http://schemas.microsoft.com/office/powerpoint/2010/main" val="20778018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86E3DD-0360-44CE-B459-A7605D8AF3E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7DC7137-4950-40CC-95D8-4E7F46AA9F49}"/>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7FC4850-F1E6-4C32-9FC9-0F7C376191D9}"/>
              </a:ext>
            </a:extLst>
          </p:cNvPr>
          <p:cNvSpPr>
            <a:spLocks noGrp="1"/>
          </p:cNvSpPr>
          <p:nvPr>
            <p:ph type="dt" sz="half" idx="10"/>
          </p:nvPr>
        </p:nvSpPr>
        <p:spPr/>
        <p:txBody>
          <a:bodyPr/>
          <a:lstStyle/>
          <a:p>
            <a:fld id="{D807077A-0F07-4EF2-AB51-A03FFB7DB346}" type="datetime1">
              <a:rPr lang="en-IN" smtClean="0"/>
              <a:t>05-02-2026</a:t>
            </a:fld>
            <a:endParaRPr lang="en-IN"/>
          </a:p>
        </p:txBody>
      </p:sp>
      <p:sp>
        <p:nvSpPr>
          <p:cNvPr id="5" name="Footer Placeholder 4">
            <a:extLst>
              <a:ext uri="{FF2B5EF4-FFF2-40B4-BE49-F238E27FC236}">
                <a16:creationId xmlns:a16="http://schemas.microsoft.com/office/drawing/2014/main" id="{E1D33741-08EA-4C70-B735-0B5F51AC9467}"/>
              </a:ext>
            </a:extLst>
          </p:cNvPr>
          <p:cNvSpPr>
            <a:spLocks noGrp="1"/>
          </p:cNvSpPr>
          <p:nvPr>
            <p:ph type="ftr" sz="quarter" idx="11"/>
          </p:nvPr>
        </p:nvSpPr>
        <p:spPr/>
        <p:txBody>
          <a:bodyPr/>
          <a:lstStyle/>
          <a:p>
            <a:r>
              <a:rPr lang="en-IN"/>
              <a:t>NGO MANAGEMENT SOFTWARE</a:t>
            </a:r>
          </a:p>
        </p:txBody>
      </p:sp>
      <p:sp>
        <p:nvSpPr>
          <p:cNvPr id="6" name="Slide Number Placeholder 5">
            <a:extLst>
              <a:ext uri="{FF2B5EF4-FFF2-40B4-BE49-F238E27FC236}">
                <a16:creationId xmlns:a16="http://schemas.microsoft.com/office/drawing/2014/main" id="{D6F9B2AA-946C-4109-AEB9-CE4D65912098}"/>
              </a:ext>
            </a:extLst>
          </p:cNvPr>
          <p:cNvSpPr>
            <a:spLocks noGrp="1"/>
          </p:cNvSpPr>
          <p:nvPr>
            <p:ph type="sldNum" sz="quarter" idx="12"/>
          </p:nvPr>
        </p:nvSpPr>
        <p:spPr/>
        <p:txBody>
          <a:bodyPr/>
          <a:lstStyle/>
          <a:p>
            <a:fld id="{EC723807-FF10-4730-B603-EA98888C76C4}" type="slidenum">
              <a:rPr lang="en-IN" smtClean="0"/>
              <a:t>‹#›</a:t>
            </a:fld>
            <a:endParaRPr lang="en-IN"/>
          </a:p>
        </p:txBody>
      </p:sp>
    </p:spTree>
    <p:extLst>
      <p:ext uri="{BB962C8B-B14F-4D97-AF65-F5344CB8AC3E}">
        <p14:creationId xmlns:p14="http://schemas.microsoft.com/office/powerpoint/2010/main" val="32251042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DA5407-BACF-4FAA-B2DC-D6663A7735D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6CEA7C3-FC8E-455F-921B-4254B2263C5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04BC0A2F-72F2-4453-AE78-0FF4A473F68A}"/>
              </a:ext>
            </a:extLst>
          </p:cNvPr>
          <p:cNvSpPr>
            <a:spLocks noGrp="1"/>
          </p:cNvSpPr>
          <p:nvPr>
            <p:ph type="dt" sz="half" idx="10"/>
          </p:nvPr>
        </p:nvSpPr>
        <p:spPr/>
        <p:txBody>
          <a:bodyPr/>
          <a:lstStyle/>
          <a:p>
            <a:fld id="{B4087F93-3A5C-4E0D-B627-C2A7D6544507}" type="datetime1">
              <a:rPr lang="en-IN" smtClean="0"/>
              <a:t>05-02-2026</a:t>
            </a:fld>
            <a:endParaRPr lang="en-IN"/>
          </a:p>
        </p:txBody>
      </p:sp>
      <p:sp>
        <p:nvSpPr>
          <p:cNvPr id="5" name="Footer Placeholder 4">
            <a:extLst>
              <a:ext uri="{FF2B5EF4-FFF2-40B4-BE49-F238E27FC236}">
                <a16:creationId xmlns:a16="http://schemas.microsoft.com/office/drawing/2014/main" id="{B2DBB00A-3834-47CC-A3D1-3896F11E484D}"/>
              </a:ext>
            </a:extLst>
          </p:cNvPr>
          <p:cNvSpPr>
            <a:spLocks noGrp="1"/>
          </p:cNvSpPr>
          <p:nvPr>
            <p:ph type="ftr" sz="quarter" idx="11"/>
          </p:nvPr>
        </p:nvSpPr>
        <p:spPr/>
        <p:txBody>
          <a:bodyPr/>
          <a:lstStyle/>
          <a:p>
            <a:r>
              <a:rPr lang="en-IN"/>
              <a:t>NGO MANAGEMENT SOFTWARE</a:t>
            </a:r>
          </a:p>
        </p:txBody>
      </p:sp>
      <p:sp>
        <p:nvSpPr>
          <p:cNvPr id="6" name="Slide Number Placeholder 5">
            <a:extLst>
              <a:ext uri="{FF2B5EF4-FFF2-40B4-BE49-F238E27FC236}">
                <a16:creationId xmlns:a16="http://schemas.microsoft.com/office/drawing/2014/main" id="{A3291638-72BD-463C-B126-7C05E278D3E7}"/>
              </a:ext>
            </a:extLst>
          </p:cNvPr>
          <p:cNvSpPr>
            <a:spLocks noGrp="1"/>
          </p:cNvSpPr>
          <p:nvPr>
            <p:ph type="sldNum" sz="quarter" idx="12"/>
          </p:nvPr>
        </p:nvSpPr>
        <p:spPr/>
        <p:txBody>
          <a:bodyPr/>
          <a:lstStyle/>
          <a:p>
            <a:fld id="{EC723807-FF10-4730-B603-EA98888C76C4}" type="slidenum">
              <a:rPr lang="en-IN" smtClean="0"/>
              <a:t>‹#›</a:t>
            </a:fld>
            <a:endParaRPr lang="en-IN"/>
          </a:p>
        </p:txBody>
      </p:sp>
    </p:spTree>
    <p:extLst>
      <p:ext uri="{BB962C8B-B14F-4D97-AF65-F5344CB8AC3E}">
        <p14:creationId xmlns:p14="http://schemas.microsoft.com/office/powerpoint/2010/main" val="41859474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D56BF7-D848-4EE9-80A7-BB64002AA0A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2F7B25B-3726-40F7-BDF1-13B9FFEFF7D2}"/>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9C2444D-C110-48B2-90C8-80FE4B5AE8A8}"/>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19EF305-D4CE-45FF-B4B3-B5680948FF38}"/>
              </a:ext>
            </a:extLst>
          </p:cNvPr>
          <p:cNvSpPr>
            <a:spLocks noGrp="1"/>
          </p:cNvSpPr>
          <p:nvPr>
            <p:ph type="dt" sz="half" idx="10"/>
          </p:nvPr>
        </p:nvSpPr>
        <p:spPr/>
        <p:txBody>
          <a:bodyPr/>
          <a:lstStyle/>
          <a:p>
            <a:fld id="{686DE410-048E-4568-81F6-55E7C7CF553B}" type="datetime1">
              <a:rPr lang="en-IN" smtClean="0"/>
              <a:t>05-02-2026</a:t>
            </a:fld>
            <a:endParaRPr lang="en-IN"/>
          </a:p>
        </p:txBody>
      </p:sp>
      <p:sp>
        <p:nvSpPr>
          <p:cNvPr id="6" name="Footer Placeholder 5">
            <a:extLst>
              <a:ext uri="{FF2B5EF4-FFF2-40B4-BE49-F238E27FC236}">
                <a16:creationId xmlns:a16="http://schemas.microsoft.com/office/drawing/2014/main" id="{81167894-A027-43DC-B217-732654A4AB2F}"/>
              </a:ext>
            </a:extLst>
          </p:cNvPr>
          <p:cNvSpPr>
            <a:spLocks noGrp="1"/>
          </p:cNvSpPr>
          <p:nvPr>
            <p:ph type="ftr" sz="quarter" idx="11"/>
          </p:nvPr>
        </p:nvSpPr>
        <p:spPr/>
        <p:txBody>
          <a:bodyPr/>
          <a:lstStyle/>
          <a:p>
            <a:r>
              <a:rPr lang="en-IN"/>
              <a:t>NGO MANAGEMENT SOFTWARE</a:t>
            </a:r>
          </a:p>
        </p:txBody>
      </p:sp>
      <p:sp>
        <p:nvSpPr>
          <p:cNvPr id="7" name="Slide Number Placeholder 6">
            <a:extLst>
              <a:ext uri="{FF2B5EF4-FFF2-40B4-BE49-F238E27FC236}">
                <a16:creationId xmlns:a16="http://schemas.microsoft.com/office/drawing/2014/main" id="{BC18014E-A0FA-4323-B200-49D10B9D1872}"/>
              </a:ext>
            </a:extLst>
          </p:cNvPr>
          <p:cNvSpPr>
            <a:spLocks noGrp="1"/>
          </p:cNvSpPr>
          <p:nvPr>
            <p:ph type="sldNum" sz="quarter" idx="12"/>
          </p:nvPr>
        </p:nvSpPr>
        <p:spPr/>
        <p:txBody>
          <a:bodyPr/>
          <a:lstStyle/>
          <a:p>
            <a:fld id="{EC723807-FF10-4730-B603-EA98888C76C4}" type="slidenum">
              <a:rPr lang="en-IN" smtClean="0"/>
              <a:t>‹#›</a:t>
            </a:fld>
            <a:endParaRPr lang="en-IN"/>
          </a:p>
        </p:txBody>
      </p:sp>
    </p:spTree>
    <p:extLst>
      <p:ext uri="{BB962C8B-B14F-4D97-AF65-F5344CB8AC3E}">
        <p14:creationId xmlns:p14="http://schemas.microsoft.com/office/powerpoint/2010/main" val="8715493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74D23C-90F9-464C-A1E4-7D0BAECE2E1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4C55E60-7FD9-4C7B-84B6-DBCC8C5AC84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4399DF50-C51D-4FA9-91FA-D38F923EA4C0}"/>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C8F1C3A-D3BF-4DF4-9FC5-AA4573E334F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741713E5-248A-4429-AA7C-2D8735D06FD5}"/>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96A1372-28E3-4CF9-821D-D964D54A5F31}"/>
              </a:ext>
            </a:extLst>
          </p:cNvPr>
          <p:cNvSpPr>
            <a:spLocks noGrp="1"/>
          </p:cNvSpPr>
          <p:nvPr>
            <p:ph type="dt" sz="half" idx="10"/>
          </p:nvPr>
        </p:nvSpPr>
        <p:spPr/>
        <p:txBody>
          <a:bodyPr/>
          <a:lstStyle/>
          <a:p>
            <a:fld id="{EE82C837-2F7E-450D-AEBA-8E2F155C99AD}" type="datetime1">
              <a:rPr lang="en-IN" smtClean="0"/>
              <a:t>05-02-2026</a:t>
            </a:fld>
            <a:endParaRPr lang="en-IN"/>
          </a:p>
        </p:txBody>
      </p:sp>
      <p:sp>
        <p:nvSpPr>
          <p:cNvPr id="8" name="Footer Placeholder 7">
            <a:extLst>
              <a:ext uri="{FF2B5EF4-FFF2-40B4-BE49-F238E27FC236}">
                <a16:creationId xmlns:a16="http://schemas.microsoft.com/office/drawing/2014/main" id="{3FC3229A-9FC4-4632-B9F2-E9DAE867EE5D}"/>
              </a:ext>
            </a:extLst>
          </p:cNvPr>
          <p:cNvSpPr>
            <a:spLocks noGrp="1"/>
          </p:cNvSpPr>
          <p:nvPr>
            <p:ph type="ftr" sz="quarter" idx="11"/>
          </p:nvPr>
        </p:nvSpPr>
        <p:spPr/>
        <p:txBody>
          <a:bodyPr/>
          <a:lstStyle/>
          <a:p>
            <a:r>
              <a:rPr lang="en-IN"/>
              <a:t>NGO MANAGEMENT SOFTWARE</a:t>
            </a:r>
          </a:p>
        </p:txBody>
      </p:sp>
      <p:sp>
        <p:nvSpPr>
          <p:cNvPr id="9" name="Slide Number Placeholder 8">
            <a:extLst>
              <a:ext uri="{FF2B5EF4-FFF2-40B4-BE49-F238E27FC236}">
                <a16:creationId xmlns:a16="http://schemas.microsoft.com/office/drawing/2014/main" id="{9A88C8D2-FE87-47BD-887B-4589ABCF3AFC}"/>
              </a:ext>
            </a:extLst>
          </p:cNvPr>
          <p:cNvSpPr>
            <a:spLocks noGrp="1"/>
          </p:cNvSpPr>
          <p:nvPr>
            <p:ph type="sldNum" sz="quarter" idx="12"/>
          </p:nvPr>
        </p:nvSpPr>
        <p:spPr/>
        <p:txBody>
          <a:bodyPr/>
          <a:lstStyle/>
          <a:p>
            <a:fld id="{EC723807-FF10-4730-B603-EA98888C76C4}" type="slidenum">
              <a:rPr lang="en-IN" smtClean="0"/>
              <a:t>‹#›</a:t>
            </a:fld>
            <a:endParaRPr lang="en-IN"/>
          </a:p>
        </p:txBody>
      </p:sp>
    </p:spTree>
    <p:extLst>
      <p:ext uri="{BB962C8B-B14F-4D97-AF65-F5344CB8AC3E}">
        <p14:creationId xmlns:p14="http://schemas.microsoft.com/office/powerpoint/2010/main" val="31665167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017354-C6EB-44F4-9A6E-E310FAB2CF2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7FF6513-FA10-41E0-AE5B-68F78DABD8A9}"/>
              </a:ext>
            </a:extLst>
          </p:cNvPr>
          <p:cNvSpPr>
            <a:spLocks noGrp="1"/>
          </p:cNvSpPr>
          <p:nvPr>
            <p:ph type="dt" sz="half" idx="10"/>
          </p:nvPr>
        </p:nvSpPr>
        <p:spPr/>
        <p:txBody>
          <a:bodyPr/>
          <a:lstStyle/>
          <a:p>
            <a:fld id="{69C483AB-E3FD-4F23-B092-77E7A6A12C8A}" type="datetime1">
              <a:rPr lang="en-IN" smtClean="0"/>
              <a:t>05-02-2026</a:t>
            </a:fld>
            <a:endParaRPr lang="en-IN"/>
          </a:p>
        </p:txBody>
      </p:sp>
      <p:sp>
        <p:nvSpPr>
          <p:cNvPr id="4" name="Footer Placeholder 3">
            <a:extLst>
              <a:ext uri="{FF2B5EF4-FFF2-40B4-BE49-F238E27FC236}">
                <a16:creationId xmlns:a16="http://schemas.microsoft.com/office/drawing/2014/main" id="{36D2016C-F02F-48DE-9311-479D79071162}"/>
              </a:ext>
            </a:extLst>
          </p:cNvPr>
          <p:cNvSpPr>
            <a:spLocks noGrp="1"/>
          </p:cNvSpPr>
          <p:nvPr>
            <p:ph type="ftr" sz="quarter" idx="11"/>
          </p:nvPr>
        </p:nvSpPr>
        <p:spPr/>
        <p:txBody>
          <a:bodyPr/>
          <a:lstStyle/>
          <a:p>
            <a:r>
              <a:rPr lang="en-IN"/>
              <a:t>NGO MANAGEMENT SOFTWARE</a:t>
            </a:r>
          </a:p>
        </p:txBody>
      </p:sp>
      <p:sp>
        <p:nvSpPr>
          <p:cNvPr id="5" name="Slide Number Placeholder 4">
            <a:extLst>
              <a:ext uri="{FF2B5EF4-FFF2-40B4-BE49-F238E27FC236}">
                <a16:creationId xmlns:a16="http://schemas.microsoft.com/office/drawing/2014/main" id="{7ED305F1-6897-4A7A-8857-F0017D2CD501}"/>
              </a:ext>
            </a:extLst>
          </p:cNvPr>
          <p:cNvSpPr>
            <a:spLocks noGrp="1"/>
          </p:cNvSpPr>
          <p:nvPr>
            <p:ph type="sldNum" sz="quarter" idx="12"/>
          </p:nvPr>
        </p:nvSpPr>
        <p:spPr/>
        <p:txBody>
          <a:bodyPr/>
          <a:lstStyle/>
          <a:p>
            <a:fld id="{EC723807-FF10-4730-B603-EA98888C76C4}" type="slidenum">
              <a:rPr lang="en-IN" smtClean="0"/>
              <a:t>‹#›</a:t>
            </a:fld>
            <a:endParaRPr lang="en-IN"/>
          </a:p>
        </p:txBody>
      </p:sp>
    </p:spTree>
    <p:extLst>
      <p:ext uri="{BB962C8B-B14F-4D97-AF65-F5344CB8AC3E}">
        <p14:creationId xmlns:p14="http://schemas.microsoft.com/office/powerpoint/2010/main" val="23025862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FF7BBFE-06BA-49D3-A154-591F90D29328}"/>
              </a:ext>
            </a:extLst>
          </p:cNvPr>
          <p:cNvSpPr>
            <a:spLocks noGrp="1"/>
          </p:cNvSpPr>
          <p:nvPr>
            <p:ph type="dt" sz="half" idx="10"/>
          </p:nvPr>
        </p:nvSpPr>
        <p:spPr/>
        <p:txBody>
          <a:bodyPr/>
          <a:lstStyle/>
          <a:p>
            <a:fld id="{98DB494A-CA1C-44F9-8B1F-C7B124ABCCC4}" type="datetime1">
              <a:rPr lang="en-IN" smtClean="0"/>
              <a:t>05-02-2026</a:t>
            </a:fld>
            <a:endParaRPr lang="en-IN"/>
          </a:p>
        </p:txBody>
      </p:sp>
      <p:sp>
        <p:nvSpPr>
          <p:cNvPr id="3" name="Footer Placeholder 2">
            <a:extLst>
              <a:ext uri="{FF2B5EF4-FFF2-40B4-BE49-F238E27FC236}">
                <a16:creationId xmlns:a16="http://schemas.microsoft.com/office/drawing/2014/main" id="{051B512E-E082-4189-BF3B-40F5EEBB3AD9}"/>
              </a:ext>
            </a:extLst>
          </p:cNvPr>
          <p:cNvSpPr>
            <a:spLocks noGrp="1"/>
          </p:cNvSpPr>
          <p:nvPr>
            <p:ph type="ftr" sz="quarter" idx="11"/>
          </p:nvPr>
        </p:nvSpPr>
        <p:spPr/>
        <p:txBody>
          <a:bodyPr/>
          <a:lstStyle/>
          <a:p>
            <a:r>
              <a:rPr lang="en-IN"/>
              <a:t>NGO MANAGEMENT SOFTWARE</a:t>
            </a:r>
          </a:p>
        </p:txBody>
      </p:sp>
      <p:sp>
        <p:nvSpPr>
          <p:cNvPr id="4" name="Slide Number Placeholder 3">
            <a:extLst>
              <a:ext uri="{FF2B5EF4-FFF2-40B4-BE49-F238E27FC236}">
                <a16:creationId xmlns:a16="http://schemas.microsoft.com/office/drawing/2014/main" id="{7474A07B-62F4-41E1-B627-DD2BDEB53B8F}"/>
              </a:ext>
            </a:extLst>
          </p:cNvPr>
          <p:cNvSpPr>
            <a:spLocks noGrp="1"/>
          </p:cNvSpPr>
          <p:nvPr>
            <p:ph type="sldNum" sz="quarter" idx="12"/>
          </p:nvPr>
        </p:nvSpPr>
        <p:spPr/>
        <p:txBody>
          <a:bodyPr/>
          <a:lstStyle/>
          <a:p>
            <a:fld id="{EC723807-FF10-4730-B603-EA98888C76C4}" type="slidenum">
              <a:rPr lang="en-IN" smtClean="0"/>
              <a:t>‹#›</a:t>
            </a:fld>
            <a:endParaRPr lang="en-IN"/>
          </a:p>
        </p:txBody>
      </p:sp>
    </p:spTree>
    <p:extLst>
      <p:ext uri="{BB962C8B-B14F-4D97-AF65-F5344CB8AC3E}">
        <p14:creationId xmlns:p14="http://schemas.microsoft.com/office/powerpoint/2010/main" val="8107134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CFC6B-158C-4081-BB14-5C9E1A1AC82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02008E0-2F55-497E-9D74-43A1461FA64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7D244C0-1C2F-4F11-9583-050CB40AAC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AA4F18B5-AFFA-4632-B8CC-768A80568919}"/>
              </a:ext>
            </a:extLst>
          </p:cNvPr>
          <p:cNvSpPr>
            <a:spLocks noGrp="1"/>
          </p:cNvSpPr>
          <p:nvPr>
            <p:ph type="dt" sz="half" idx="10"/>
          </p:nvPr>
        </p:nvSpPr>
        <p:spPr/>
        <p:txBody>
          <a:bodyPr/>
          <a:lstStyle/>
          <a:p>
            <a:fld id="{474DD13C-8EFD-4B66-A96F-C6E6568E19B9}" type="datetime1">
              <a:rPr lang="en-IN" smtClean="0"/>
              <a:t>05-02-2026</a:t>
            </a:fld>
            <a:endParaRPr lang="en-IN"/>
          </a:p>
        </p:txBody>
      </p:sp>
      <p:sp>
        <p:nvSpPr>
          <p:cNvPr id="6" name="Footer Placeholder 5">
            <a:extLst>
              <a:ext uri="{FF2B5EF4-FFF2-40B4-BE49-F238E27FC236}">
                <a16:creationId xmlns:a16="http://schemas.microsoft.com/office/drawing/2014/main" id="{3FD84F82-2B57-4630-B1AE-3F8D1600B93D}"/>
              </a:ext>
            </a:extLst>
          </p:cNvPr>
          <p:cNvSpPr>
            <a:spLocks noGrp="1"/>
          </p:cNvSpPr>
          <p:nvPr>
            <p:ph type="ftr" sz="quarter" idx="11"/>
          </p:nvPr>
        </p:nvSpPr>
        <p:spPr/>
        <p:txBody>
          <a:bodyPr/>
          <a:lstStyle/>
          <a:p>
            <a:r>
              <a:rPr lang="en-IN"/>
              <a:t>NGO MANAGEMENT SOFTWARE</a:t>
            </a:r>
          </a:p>
        </p:txBody>
      </p:sp>
      <p:sp>
        <p:nvSpPr>
          <p:cNvPr id="7" name="Slide Number Placeholder 6">
            <a:extLst>
              <a:ext uri="{FF2B5EF4-FFF2-40B4-BE49-F238E27FC236}">
                <a16:creationId xmlns:a16="http://schemas.microsoft.com/office/drawing/2014/main" id="{BD73F2C4-C440-4C5A-ABE4-1BDE0BEB5774}"/>
              </a:ext>
            </a:extLst>
          </p:cNvPr>
          <p:cNvSpPr>
            <a:spLocks noGrp="1"/>
          </p:cNvSpPr>
          <p:nvPr>
            <p:ph type="sldNum" sz="quarter" idx="12"/>
          </p:nvPr>
        </p:nvSpPr>
        <p:spPr/>
        <p:txBody>
          <a:bodyPr/>
          <a:lstStyle/>
          <a:p>
            <a:fld id="{EC723807-FF10-4730-B603-EA98888C76C4}" type="slidenum">
              <a:rPr lang="en-IN" smtClean="0"/>
              <a:t>‹#›</a:t>
            </a:fld>
            <a:endParaRPr lang="en-IN"/>
          </a:p>
        </p:txBody>
      </p:sp>
    </p:spTree>
    <p:extLst>
      <p:ext uri="{BB962C8B-B14F-4D97-AF65-F5344CB8AC3E}">
        <p14:creationId xmlns:p14="http://schemas.microsoft.com/office/powerpoint/2010/main" val="32175365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EB4FD6-362E-41A0-9081-6ED5BE61634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3D2C956-F5A1-4571-9612-2571F78A321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FE7DDDF-E5EB-4389-B790-F5258287FA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77605521-DEA4-48DD-A581-96DC0A0E5E48}"/>
              </a:ext>
            </a:extLst>
          </p:cNvPr>
          <p:cNvSpPr>
            <a:spLocks noGrp="1"/>
          </p:cNvSpPr>
          <p:nvPr>
            <p:ph type="dt" sz="half" idx="10"/>
          </p:nvPr>
        </p:nvSpPr>
        <p:spPr/>
        <p:txBody>
          <a:bodyPr/>
          <a:lstStyle/>
          <a:p>
            <a:fld id="{D2D86D33-E31F-40D0-9A3A-EAD666FAE457}" type="datetime1">
              <a:rPr lang="en-IN" smtClean="0"/>
              <a:t>05-02-2026</a:t>
            </a:fld>
            <a:endParaRPr lang="en-IN"/>
          </a:p>
        </p:txBody>
      </p:sp>
      <p:sp>
        <p:nvSpPr>
          <p:cNvPr id="6" name="Footer Placeholder 5">
            <a:extLst>
              <a:ext uri="{FF2B5EF4-FFF2-40B4-BE49-F238E27FC236}">
                <a16:creationId xmlns:a16="http://schemas.microsoft.com/office/drawing/2014/main" id="{855BBADD-805B-4F8B-A1F5-1C2B57F15AE1}"/>
              </a:ext>
            </a:extLst>
          </p:cNvPr>
          <p:cNvSpPr>
            <a:spLocks noGrp="1"/>
          </p:cNvSpPr>
          <p:nvPr>
            <p:ph type="ftr" sz="quarter" idx="11"/>
          </p:nvPr>
        </p:nvSpPr>
        <p:spPr/>
        <p:txBody>
          <a:bodyPr/>
          <a:lstStyle/>
          <a:p>
            <a:r>
              <a:rPr lang="en-IN"/>
              <a:t>NGO MANAGEMENT SOFTWARE</a:t>
            </a:r>
          </a:p>
        </p:txBody>
      </p:sp>
      <p:sp>
        <p:nvSpPr>
          <p:cNvPr id="7" name="Slide Number Placeholder 6">
            <a:extLst>
              <a:ext uri="{FF2B5EF4-FFF2-40B4-BE49-F238E27FC236}">
                <a16:creationId xmlns:a16="http://schemas.microsoft.com/office/drawing/2014/main" id="{ACAD8057-B721-4157-8706-9AE9CF3638BD}"/>
              </a:ext>
            </a:extLst>
          </p:cNvPr>
          <p:cNvSpPr>
            <a:spLocks noGrp="1"/>
          </p:cNvSpPr>
          <p:nvPr>
            <p:ph type="sldNum" sz="quarter" idx="12"/>
          </p:nvPr>
        </p:nvSpPr>
        <p:spPr/>
        <p:txBody>
          <a:bodyPr/>
          <a:lstStyle/>
          <a:p>
            <a:fld id="{EC723807-FF10-4730-B603-EA98888C76C4}" type="slidenum">
              <a:rPr lang="en-IN" smtClean="0"/>
              <a:t>‹#›</a:t>
            </a:fld>
            <a:endParaRPr lang="en-IN"/>
          </a:p>
        </p:txBody>
      </p:sp>
    </p:spTree>
    <p:extLst>
      <p:ext uri="{BB962C8B-B14F-4D97-AF65-F5344CB8AC3E}">
        <p14:creationId xmlns:p14="http://schemas.microsoft.com/office/powerpoint/2010/main" val="13111177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6FF56-0C78-44D8-AE66-E79E02E8C95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921D603-B328-4ADD-9103-C12D804A8833}"/>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AA5D3E6-BFA0-47A1-A399-0F19693EA943}"/>
              </a:ext>
            </a:extLst>
          </p:cNvPr>
          <p:cNvSpPr>
            <a:spLocks noGrp="1"/>
          </p:cNvSpPr>
          <p:nvPr>
            <p:ph type="dt" sz="half" idx="10"/>
          </p:nvPr>
        </p:nvSpPr>
        <p:spPr/>
        <p:txBody>
          <a:bodyPr/>
          <a:lstStyle/>
          <a:p>
            <a:fld id="{F230C375-5AEC-4354-B49B-05578E498591}" type="datetime1">
              <a:rPr lang="en-IN" smtClean="0"/>
              <a:t>05-02-2026</a:t>
            </a:fld>
            <a:endParaRPr lang="en-IN"/>
          </a:p>
        </p:txBody>
      </p:sp>
      <p:sp>
        <p:nvSpPr>
          <p:cNvPr id="5" name="Footer Placeholder 4">
            <a:extLst>
              <a:ext uri="{FF2B5EF4-FFF2-40B4-BE49-F238E27FC236}">
                <a16:creationId xmlns:a16="http://schemas.microsoft.com/office/drawing/2014/main" id="{DC95128E-F13A-4D1C-8E26-D8BDBB3A7A7C}"/>
              </a:ext>
            </a:extLst>
          </p:cNvPr>
          <p:cNvSpPr>
            <a:spLocks noGrp="1"/>
          </p:cNvSpPr>
          <p:nvPr>
            <p:ph type="ftr" sz="quarter" idx="11"/>
          </p:nvPr>
        </p:nvSpPr>
        <p:spPr/>
        <p:txBody>
          <a:bodyPr/>
          <a:lstStyle/>
          <a:p>
            <a:r>
              <a:rPr lang="en-IN"/>
              <a:t>NGO MANAGEMENT SOFTWARE</a:t>
            </a:r>
          </a:p>
        </p:txBody>
      </p:sp>
      <p:sp>
        <p:nvSpPr>
          <p:cNvPr id="6" name="Slide Number Placeholder 5">
            <a:extLst>
              <a:ext uri="{FF2B5EF4-FFF2-40B4-BE49-F238E27FC236}">
                <a16:creationId xmlns:a16="http://schemas.microsoft.com/office/drawing/2014/main" id="{7D993D10-4280-4443-9589-422F5B47B076}"/>
              </a:ext>
            </a:extLst>
          </p:cNvPr>
          <p:cNvSpPr>
            <a:spLocks noGrp="1"/>
          </p:cNvSpPr>
          <p:nvPr>
            <p:ph type="sldNum" sz="quarter" idx="12"/>
          </p:nvPr>
        </p:nvSpPr>
        <p:spPr/>
        <p:txBody>
          <a:bodyPr/>
          <a:lstStyle/>
          <a:p>
            <a:fld id="{EC723807-FF10-4730-B603-EA98888C76C4}" type="slidenum">
              <a:rPr lang="en-IN" smtClean="0"/>
              <a:t>‹#›</a:t>
            </a:fld>
            <a:endParaRPr lang="en-IN"/>
          </a:p>
        </p:txBody>
      </p:sp>
    </p:spTree>
    <p:extLst>
      <p:ext uri="{BB962C8B-B14F-4D97-AF65-F5344CB8AC3E}">
        <p14:creationId xmlns:p14="http://schemas.microsoft.com/office/powerpoint/2010/main" val="21037898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EB76448-C326-414D-9414-F7E6B58ED71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9E8763A-AA28-4678-91F2-7CA11E2BE114}"/>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55A83F4-20BC-4DB9-9156-B2A77330F442}"/>
              </a:ext>
            </a:extLst>
          </p:cNvPr>
          <p:cNvSpPr>
            <a:spLocks noGrp="1"/>
          </p:cNvSpPr>
          <p:nvPr>
            <p:ph type="dt" sz="half" idx="10"/>
          </p:nvPr>
        </p:nvSpPr>
        <p:spPr/>
        <p:txBody>
          <a:bodyPr/>
          <a:lstStyle/>
          <a:p>
            <a:fld id="{3BBFE014-C3D7-471E-8254-578799237665}" type="datetime1">
              <a:rPr lang="en-IN" smtClean="0"/>
              <a:t>05-02-2026</a:t>
            </a:fld>
            <a:endParaRPr lang="en-IN"/>
          </a:p>
        </p:txBody>
      </p:sp>
      <p:sp>
        <p:nvSpPr>
          <p:cNvPr id="5" name="Footer Placeholder 4">
            <a:extLst>
              <a:ext uri="{FF2B5EF4-FFF2-40B4-BE49-F238E27FC236}">
                <a16:creationId xmlns:a16="http://schemas.microsoft.com/office/drawing/2014/main" id="{BD72CCB2-6D92-4A61-A90D-4F294F5C5D0A}"/>
              </a:ext>
            </a:extLst>
          </p:cNvPr>
          <p:cNvSpPr>
            <a:spLocks noGrp="1"/>
          </p:cNvSpPr>
          <p:nvPr>
            <p:ph type="ftr" sz="quarter" idx="11"/>
          </p:nvPr>
        </p:nvSpPr>
        <p:spPr/>
        <p:txBody>
          <a:bodyPr/>
          <a:lstStyle/>
          <a:p>
            <a:r>
              <a:rPr lang="en-IN"/>
              <a:t>NGO MANAGEMENT SOFTWARE</a:t>
            </a:r>
          </a:p>
        </p:txBody>
      </p:sp>
      <p:sp>
        <p:nvSpPr>
          <p:cNvPr id="6" name="Slide Number Placeholder 5">
            <a:extLst>
              <a:ext uri="{FF2B5EF4-FFF2-40B4-BE49-F238E27FC236}">
                <a16:creationId xmlns:a16="http://schemas.microsoft.com/office/drawing/2014/main" id="{9B55B54C-F0AD-47B8-B171-6257A1091567}"/>
              </a:ext>
            </a:extLst>
          </p:cNvPr>
          <p:cNvSpPr>
            <a:spLocks noGrp="1"/>
          </p:cNvSpPr>
          <p:nvPr>
            <p:ph type="sldNum" sz="quarter" idx="12"/>
          </p:nvPr>
        </p:nvSpPr>
        <p:spPr/>
        <p:txBody>
          <a:bodyPr/>
          <a:lstStyle/>
          <a:p>
            <a:fld id="{EC723807-FF10-4730-B603-EA98888C76C4}" type="slidenum">
              <a:rPr lang="en-IN" smtClean="0"/>
              <a:t>‹#›</a:t>
            </a:fld>
            <a:endParaRPr lang="en-IN"/>
          </a:p>
        </p:txBody>
      </p:sp>
    </p:spTree>
    <p:extLst>
      <p:ext uri="{BB962C8B-B14F-4D97-AF65-F5344CB8AC3E}">
        <p14:creationId xmlns:p14="http://schemas.microsoft.com/office/powerpoint/2010/main" val="40175499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DDAD104-D281-4B58-A142-64BB63BC7A3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BB28725-0090-48C2-BE1C-A9C02EEA4D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515A63D-0119-46BB-BB7A-B370379760E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F76208E-966D-4FFB-812C-C4315DD9FC16}" type="datetime1">
              <a:rPr lang="en-IN" smtClean="0"/>
              <a:t>05-02-2026</a:t>
            </a:fld>
            <a:endParaRPr lang="en-IN"/>
          </a:p>
        </p:txBody>
      </p:sp>
      <p:sp>
        <p:nvSpPr>
          <p:cNvPr id="5" name="Footer Placeholder 4">
            <a:extLst>
              <a:ext uri="{FF2B5EF4-FFF2-40B4-BE49-F238E27FC236}">
                <a16:creationId xmlns:a16="http://schemas.microsoft.com/office/drawing/2014/main" id="{669C4A69-9CC7-4424-8498-D56AE2F5E5F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NGO MANAGEMENT SOFTWARE</a:t>
            </a:r>
          </a:p>
        </p:txBody>
      </p:sp>
      <p:sp>
        <p:nvSpPr>
          <p:cNvPr id="6" name="Slide Number Placeholder 5">
            <a:extLst>
              <a:ext uri="{FF2B5EF4-FFF2-40B4-BE49-F238E27FC236}">
                <a16:creationId xmlns:a16="http://schemas.microsoft.com/office/drawing/2014/main" id="{4CC82355-FE29-43AE-88A8-338FFA31BF0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C723807-FF10-4730-B603-EA98888C76C4}" type="slidenum">
              <a:rPr lang="en-IN" smtClean="0"/>
              <a:t>‹#›</a:t>
            </a:fld>
            <a:endParaRPr lang="en-IN"/>
          </a:p>
        </p:txBody>
      </p:sp>
    </p:spTree>
    <p:extLst>
      <p:ext uri="{BB962C8B-B14F-4D97-AF65-F5344CB8AC3E}">
        <p14:creationId xmlns:p14="http://schemas.microsoft.com/office/powerpoint/2010/main" val="10851401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hyperlink" Target="https://www.visual-paradigm.com/" TargetMode="External"/><Relationship Id="rId3" Type="http://schemas.openxmlformats.org/officeDocument/2006/relationships/hyperlink" Target="https://vuejs.org/" TargetMode="External"/><Relationship Id="rId7" Type="http://schemas.openxmlformats.org/officeDocument/2006/relationships/hyperlink" Target="https://www.techopedia.com/" TargetMode="External"/><Relationship Id="rId2" Type="http://schemas.openxmlformats.org/officeDocument/2006/relationships/hyperlink" Target="https://flask.palletsprojects.com/" TargetMode="External"/><Relationship Id="rId1" Type="http://schemas.openxmlformats.org/officeDocument/2006/relationships/slideLayout" Target="../slideLayouts/slideLayout2.xml"/><Relationship Id="rId6" Type="http://schemas.openxmlformats.org/officeDocument/2006/relationships/hyperlink" Target="https://jwt.io/introduction" TargetMode="External"/><Relationship Id="rId5" Type="http://schemas.openxmlformats.org/officeDocument/2006/relationships/hyperlink" Target="https://docs.sqlalchemy.org/" TargetMode="External"/><Relationship Id="rId4" Type="http://schemas.openxmlformats.org/officeDocument/2006/relationships/hyperlink" Target="https://dev.mysql.com/doc/"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Content Placeholder 2">
            <a:extLst>
              <a:ext uri="{FF2B5EF4-FFF2-40B4-BE49-F238E27FC236}">
                <a16:creationId xmlns:a16="http://schemas.microsoft.com/office/drawing/2014/main" id="{1D5FF022-9029-4821-9CE8-8B6513C4D8B5}"/>
              </a:ext>
            </a:extLst>
          </p:cNvPr>
          <p:cNvSpPr txBox="1"/>
          <p:nvPr/>
        </p:nvSpPr>
        <p:spPr>
          <a:xfrm>
            <a:off x="609599" y="1659705"/>
            <a:ext cx="10972800" cy="4525963"/>
          </a:xfrm>
          <a:prstGeom prst="rect">
            <a:avLst/>
          </a:prstGeom>
        </p:spPr>
        <p:txBody>
          <a:bodyPr vert="horz" lIns="91440" tIns="45720" rIns="91440" bIns="45720" rtlCol="0">
            <a:normAutofit/>
          </a:bodyPr>
          <a:lstStyle>
            <a:defPPr>
              <a:defRPr lang="en-US"/>
            </a:defPPr>
            <a:lvl1pPr marL="0" indent="0" algn="ctr" defTabSz="914400" rtl="0" eaLnBrk="1" latinLnBrk="0" hangingPunct="1">
              <a:lnSpc>
                <a:spcPct val="90000"/>
              </a:lnSpc>
              <a:spcBef>
                <a:spcPts val="1000"/>
              </a:spcBef>
              <a:buFont typeface="Arial"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itchFamily="34" charset="0"/>
              <a:buNone/>
              <a:defRPr sz="1600" kern="1200">
                <a:solidFill>
                  <a:schemeClr val="tx1"/>
                </a:solidFill>
                <a:latin typeface="+mn-lt"/>
                <a:ea typeface="+mn-ea"/>
                <a:cs typeface="+mn-cs"/>
              </a:defRPr>
            </a:lvl9pPr>
          </a:lstStyle>
          <a:p>
            <a:endParaRPr lang="en-IN" b="1">
              <a:latin typeface="Times New Roman" panose="02020603050405020304" pitchFamily="18" charset="0"/>
              <a:cs typeface="Times New Roman" panose="02020603050405020304" pitchFamily="18" charset="0"/>
            </a:endParaRPr>
          </a:p>
          <a:p>
            <a:endParaRPr lang="en-IN" b="1">
              <a:latin typeface="Times New Roman" panose="02020603050405020304" pitchFamily="18" charset="0"/>
              <a:cs typeface="Times New Roman" panose="02020603050405020304" pitchFamily="18" charset="0"/>
            </a:endParaRPr>
          </a:p>
        </p:txBody>
      </p:sp>
      <p:pic>
        <p:nvPicPr>
          <p:cNvPr id="24" name="Picture 23" descr="Sona college Logo">
            <a:extLst>
              <a:ext uri="{FF2B5EF4-FFF2-40B4-BE49-F238E27FC236}">
                <a16:creationId xmlns:a16="http://schemas.microsoft.com/office/drawing/2014/main" id="{186560F5-4C87-4301-A912-BD3C5A919647}"/>
              </a:ext>
            </a:extLst>
          </p:cNvPr>
          <p:cNvPicPr>
            <a:picLocks noChangeAspect="1" noChangeArrowheads="1"/>
          </p:cNvPicPr>
          <p:nvPr/>
        </p:nvPicPr>
        <p:blipFill>
          <a:blip r:embed="rId2"/>
          <a:stretch>
            <a:fillRect/>
          </a:stretch>
        </p:blipFill>
        <p:spPr bwMode="auto">
          <a:xfrm>
            <a:off x="-1" y="-35859"/>
            <a:ext cx="2781837" cy="2225513"/>
          </a:xfrm>
          <a:prstGeom prst="rect">
            <a:avLst/>
          </a:prstGeom>
          <a:noFill/>
        </p:spPr>
      </p:pic>
      <p:sp>
        <p:nvSpPr>
          <p:cNvPr id="25" name="Rectangle 24">
            <a:extLst>
              <a:ext uri="{FF2B5EF4-FFF2-40B4-BE49-F238E27FC236}">
                <a16:creationId xmlns:a16="http://schemas.microsoft.com/office/drawing/2014/main" id="{5853E020-D123-415F-BECB-1A715F1AFB60}"/>
              </a:ext>
            </a:extLst>
          </p:cNvPr>
          <p:cNvSpPr/>
          <p:nvPr/>
        </p:nvSpPr>
        <p:spPr>
          <a:xfrm>
            <a:off x="3282461" y="465665"/>
            <a:ext cx="8030307" cy="954107"/>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800" dirty="0">
                <a:solidFill>
                  <a:srgbClr val="2B0692"/>
                </a:solidFill>
                <a:latin typeface="Arial Black" panose="020B0A04020102020204" pitchFamily="34" charset="0"/>
              </a:rPr>
              <a:t>SONA COLLEGE OF TECHNOLOGY</a:t>
            </a:r>
          </a:p>
          <a:p>
            <a:pPr algn="ctr"/>
            <a:r>
              <a:rPr lang="en-US" sz="2800" dirty="0">
                <a:solidFill>
                  <a:srgbClr val="2B0692"/>
                </a:solidFill>
                <a:latin typeface="Arial Black" panose="020B0A04020102020204" pitchFamily="34" charset="0"/>
              </a:rPr>
              <a:t>(Autonomous)</a:t>
            </a:r>
          </a:p>
        </p:txBody>
      </p:sp>
      <p:sp>
        <p:nvSpPr>
          <p:cNvPr id="26" name="Subtitle 3">
            <a:extLst>
              <a:ext uri="{FF2B5EF4-FFF2-40B4-BE49-F238E27FC236}">
                <a16:creationId xmlns:a16="http://schemas.microsoft.com/office/drawing/2014/main" id="{081FE652-B164-4871-95F5-278076744699}"/>
              </a:ext>
            </a:extLst>
          </p:cNvPr>
          <p:cNvSpPr txBox="1"/>
          <p:nvPr/>
        </p:nvSpPr>
        <p:spPr bwMode="auto">
          <a:xfrm>
            <a:off x="2592533" y="1752864"/>
            <a:ext cx="9410163" cy="444273"/>
          </a:xfrm>
          <a:prstGeom prst="rect">
            <a:avLst/>
          </a:prstGeom>
          <a:noFill/>
          <a:ln w="9525">
            <a:noFill/>
            <a:miter lim="800000"/>
          </a:ln>
        </p:spPr>
        <p:txBody>
          <a:bodyPr vert="horz" wrap="square" lIns="91440" tIns="45720" rIns="91440" bIns="45720" numCol="1" anchor="t" anchorCtr="0" compatLnSpc="1">
            <a:prstTxWarp prst="textNoShape">
              <a:avLst/>
            </a:prstTxWarp>
            <a:noAutofit/>
          </a:bodyPr>
          <a:lstStyle>
            <a:defPPr>
              <a:defRPr lang="en-US"/>
            </a:defPPr>
            <a:lvl1pPr marL="342900" indent="-342900" algn="l" defTabSz="914400" rtl="0" eaLnBrk="0" fontAlgn="base" latinLnBrk="0" hangingPunct="0">
              <a:spcBef>
                <a:spcPct val="20000"/>
              </a:spcBef>
              <a:spcAft>
                <a:spcPct val="0"/>
              </a:spcAft>
              <a:buFont typeface="Arial"/>
              <a:buChar char="•"/>
              <a:defRPr sz="3200" kern="1200">
                <a:solidFill>
                  <a:schemeClr val="tx1"/>
                </a:solidFill>
                <a:latin typeface="+mn-lt"/>
                <a:ea typeface="+mn-ea"/>
                <a:cs typeface="+mn-cs"/>
              </a:defRPr>
            </a:lvl1pPr>
            <a:lvl2pPr marL="742950" indent="-285750" algn="l" defTabSz="914400" rtl="0" eaLnBrk="0" fontAlgn="base" latinLnBrk="0" hangingPunct="0">
              <a:spcBef>
                <a:spcPct val="20000"/>
              </a:spcBef>
              <a:spcAft>
                <a:spcPct val="0"/>
              </a:spcAft>
              <a:buFont typeface="Arial"/>
              <a:buChar char="–"/>
              <a:defRPr sz="2800" kern="1200">
                <a:solidFill>
                  <a:schemeClr val="tx1"/>
                </a:solidFill>
                <a:latin typeface="+mn-lt"/>
                <a:ea typeface="+mn-ea"/>
                <a:cs typeface="+mn-cs"/>
              </a:defRPr>
            </a:lvl2pPr>
            <a:lvl3pPr marL="1143000" indent="-228600" algn="l" defTabSz="914400" rtl="0" eaLnBrk="0" fontAlgn="base" latinLnBrk="0" hangingPunct="0">
              <a:spcBef>
                <a:spcPct val="20000"/>
              </a:spcBef>
              <a:spcAft>
                <a:spcPct val="0"/>
              </a:spcAft>
              <a:buFont typeface="Arial"/>
              <a:buChar char="•"/>
              <a:defRPr sz="2400" kern="1200">
                <a:solidFill>
                  <a:schemeClr val="tx1"/>
                </a:solidFill>
                <a:latin typeface="+mn-lt"/>
                <a:ea typeface="+mn-ea"/>
                <a:cs typeface="+mn-cs"/>
              </a:defRPr>
            </a:lvl3pPr>
            <a:lvl4pPr marL="1600200" indent="-228600" algn="l" defTabSz="914400" rtl="0" eaLnBrk="0" fontAlgn="base" latinLnBrk="0" hangingPunct="0">
              <a:spcBef>
                <a:spcPct val="20000"/>
              </a:spcBef>
              <a:spcAft>
                <a:spcPct val="0"/>
              </a:spcAft>
              <a:buFont typeface="Arial"/>
              <a:buChar char="–"/>
              <a:defRPr sz="2000" kern="1200">
                <a:solidFill>
                  <a:schemeClr val="tx1"/>
                </a:solidFill>
                <a:latin typeface="+mn-lt"/>
                <a:ea typeface="+mn-ea"/>
                <a:cs typeface="+mn-cs"/>
              </a:defRPr>
            </a:lvl4pPr>
            <a:lvl5pPr marL="2057400" indent="-228600" algn="l" defTabSz="914400" rtl="0" eaLnBrk="0" fontAlgn="base" latinLnBrk="0" hangingPunct="0">
              <a:spcBef>
                <a:spcPct val="20000"/>
              </a:spcBef>
              <a:spcAft>
                <a:spcPct val="0"/>
              </a:spcAft>
              <a:buFont typeface="Arial"/>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2800" b="1">
                <a:solidFill>
                  <a:schemeClr val="accent5">
                    <a:lumMod val="75000"/>
                  </a:schemeClr>
                </a:solidFill>
                <a:latin typeface="Microsoft YaHei UI" panose="020B0503020204020204" pitchFamily="34" charset="-122"/>
                <a:ea typeface="Microsoft YaHei UI" panose="020B0503020204020204" pitchFamily="34" charset="-122"/>
              </a:rPr>
              <a:t>Department of Master of Computer Applications</a:t>
            </a:r>
          </a:p>
        </p:txBody>
      </p:sp>
      <p:sp>
        <p:nvSpPr>
          <p:cNvPr id="2" name="Rectangle 1"/>
          <p:cNvSpPr/>
          <p:nvPr/>
        </p:nvSpPr>
        <p:spPr>
          <a:xfrm>
            <a:off x="1400762" y="2808796"/>
            <a:ext cx="9818752" cy="954107"/>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800" b="1" dirty="0">
                <a:solidFill>
                  <a:schemeClr val="tx1">
                    <a:lumMod val="85000"/>
                    <a:lumOff val="15000"/>
                  </a:schemeClr>
                </a:solidFill>
                <a:latin typeface="Times New Roman" pitchFamily="18" charset="0"/>
                <a:cs typeface="Times New Roman" pitchFamily="18" charset="0"/>
              </a:rPr>
              <a:t>NGO MANAGEMENT SOFTWARE</a:t>
            </a:r>
          </a:p>
          <a:p>
            <a:pPr algn="ctr"/>
            <a:endParaRPr lang="en-US" sz="2800" b="1" dirty="0">
              <a:solidFill>
                <a:schemeClr val="tx1">
                  <a:lumMod val="85000"/>
                  <a:lumOff val="15000"/>
                </a:schemeClr>
              </a:solidFill>
              <a:latin typeface="Times New Roman" pitchFamily="18" charset="0"/>
              <a:cs typeface="Times New Roman" pitchFamily="18" charset="0"/>
            </a:endParaRPr>
          </a:p>
        </p:txBody>
      </p:sp>
      <p:graphicFrame>
        <p:nvGraphicFramePr>
          <p:cNvPr id="5" name="Table 4">
            <a:extLst>
              <a:ext uri="{FF2B5EF4-FFF2-40B4-BE49-F238E27FC236}">
                <a16:creationId xmlns:a16="http://schemas.microsoft.com/office/drawing/2014/main" id="{DEC60B68-E9E3-5FBF-8E36-AE21F51D92F6}"/>
              </a:ext>
            </a:extLst>
          </p:cNvPr>
          <p:cNvGraphicFramePr>
            <a:graphicFrameLocks noGrp="1"/>
          </p:cNvGraphicFramePr>
          <p:nvPr>
            <p:extLst>
              <p:ext uri="{D42A27DB-BD31-4B8C-83A1-F6EECF244321}">
                <p14:modId xmlns:p14="http://schemas.microsoft.com/office/powerpoint/2010/main" val="1121364656"/>
              </p:ext>
            </p:extLst>
          </p:nvPr>
        </p:nvGraphicFramePr>
        <p:xfrm>
          <a:off x="6688983" y="4678840"/>
          <a:ext cx="5295772" cy="741490"/>
        </p:xfrm>
        <a:graphic>
          <a:graphicData uri="http://schemas.openxmlformats.org/drawingml/2006/table">
            <a:tbl>
              <a:tblPr firstRow="1" bandRow="1">
                <a:tableStyleId>{5C22544A-7EE6-4342-B048-85BDC9FD1C3A}</a:tableStyleId>
              </a:tblPr>
              <a:tblGrid>
                <a:gridCol w="2345567">
                  <a:extLst>
                    <a:ext uri="{9D8B030D-6E8A-4147-A177-3AD203B41FA5}">
                      <a16:colId xmlns:a16="http://schemas.microsoft.com/office/drawing/2014/main" val="1500498285"/>
                    </a:ext>
                  </a:extLst>
                </a:gridCol>
                <a:gridCol w="2950205">
                  <a:extLst>
                    <a:ext uri="{9D8B030D-6E8A-4147-A177-3AD203B41FA5}">
                      <a16:colId xmlns:a16="http://schemas.microsoft.com/office/drawing/2014/main" val="2050796524"/>
                    </a:ext>
                  </a:extLst>
                </a:gridCol>
              </a:tblGrid>
              <a:tr h="373912">
                <a:tc>
                  <a:txBody>
                    <a:bodyPr/>
                    <a:lstStyle/>
                    <a:p>
                      <a:pPr algn="ctr"/>
                      <a:r>
                        <a:rPr lang="en-US" dirty="0"/>
                        <a:t>PROJECT GUIDE </a:t>
                      </a:r>
                      <a:endParaRPr lang="en-IN" dirty="0"/>
                    </a:p>
                  </a:txBody>
                  <a:tcPr/>
                </a:tc>
                <a:tc>
                  <a:txBody>
                    <a:bodyPr/>
                    <a:lstStyle/>
                    <a:p>
                      <a:pPr algn="ctr"/>
                      <a:r>
                        <a:rPr lang="en-US" dirty="0"/>
                        <a:t>DESIGNATION</a:t>
                      </a:r>
                      <a:endParaRPr lang="en-IN" dirty="0"/>
                    </a:p>
                  </a:txBody>
                  <a:tcPr/>
                </a:tc>
                <a:extLst>
                  <a:ext uri="{0D108BD9-81ED-4DB2-BD59-A6C34878D82A}">
                    <a16:rowId xmlns:a16="http://schemas.microsoft.com/office/drawing/2014/main" val="660341641"/>
                  </a:ext>
                </a:extLst>
              </a:tr>
              <a:tr h="367578">
                <a:tc>
                  <a:txBody>
                    <a:bodyPr/>
                    <a:lstStyle/>
                    <a:p>
                      <a:pPr algn="ctr"/>
                      <a:r>
                        <a:rPr lang="en-IN" dirty="0">
                          <a:latin typeface="Times New Roman" pitchFamily="18" charset="0"/>
                          <a:cs typeface="Times New Roman" pitchFamily="18" charset="0"/>
                        </a:rPr>
                        <a:t>DR. K. SASIREKHA</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latin typeface="Times New Roman" pitchFamily="18" charset="0"/>
                          <a:cs typeface="Times New Roman" pitchFamily="18" charset="0"/>
                        </a:rPr>
                        <a:t>Assistant Professor/MCA</a:t>
                      </a:r>
                      <a:endParaRPr lang="en-IN" dirty="0">
                        <a:latin typeface="Times New Roman" pitchFamily="18" charset="0"/>
                        <a:cs typeface="Times New Roman" pitchFamily="18" charset="0"/>
                      </a:endParaRPr>
                    </a:p>
                  </a:txBody>
                  <a:tcPr/>
                </a:tc>
                <a:extLst>
                  <a:ext uri="{0D108BD9-81ED-4DB2-BD59-A6C34878D82A}">
                    <a16:rowId xmlns:a16="http://schemas.microsoft.com/office/drawing/2014/main" val="2112368201"/>
                  </a:ext>
                </a:extLst>
              </a:tr>
            </a:tbl>
          </a:graphicData>
        </a:graphic>
      </p:graphicFrame>
      <p:sp>
        <p:nvSpPr>
          <p:cNvPr id="8" name="Slide Number Placeholder 7">
            <a:extLst>
              <a:ext uri="{FF2B5EF4-FFF2-40B4-BE49-F238E27FC236}">
                <a16:creationId xmlns:a16="http://schemas.microsoft.com/office/drawing/2014/main" id="{1060C254-699F-3AF1-FEDD-52487D81CFE3}"/>
              </a:ext>
            </a:extLst>
          </p:cNvPr>
          <p:cNvSpPr>
            <a:spLocks noGrp="1"/>
          </p:cNvSpPr>
          <p:nvPr>
            <p:ph type="sldNum" sz="quarter" idx="12"/>
          </p:nvPr>
        </p:nvSpPr>
        <p:spPr/>
        <p:txBody>
          <a:bodyPr/>
          <a:lstStyle/>
          <a:p>
            <a:fld id="{EC723807-FF10-4730-B603-EA98888C76C4}" type="slidenum">
              <a:rPr lang="en-IN" smtClean="0"/>
              <a:t>1</a:t>
            </a:fld>
            <a:endParaRPr lang="en-IN" dirty="0"/>
          </a:p>
        </p:txBody>
      </p:sp>
      <p:sp>
        <p:nvSpPr>
          <p:cNvPr id="10" name="Rectangle 9"/>
          <p:cNvSpPr/>
          <p:nvPr/>
        </p:nvSpPr>
        <p:spPr>
          <a:xfrm>
            <a:off x="1404075" y="3789040"/>
            <a:ext cx="9815439" cy="461665"/>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400" b="1" dirty="0">
                <a:solidFill>
                  <a:schemeClr val="tx1">
                    <a:lumMod val="95000"/>
                    <a:lumOff val="5000"/>
                  </a:schemeClr>
                </a:solidFill>
                <a:latin typeface="Times New Roman" panose="02020603050405020304" pitchFamily="18" charset="0"/>
                <a:cs typeface="Times New Roman" panose="02020603050405020304" pitchFamily="18" charset="0"/>
              </a:rPr>
              <a:t>Review - I</a:t>
            </a:r>
            <a:endParaRPr lang="en-IN" sz="2400" dirty="0"/>
          </a:p>
        </p:txBody>
      </p:sp>
      <p:graphicFrame>
        <p:nvGraphicFramePr>
          <p:cNvPr id="11" name="Table 10">
            <a:extLst>
              <a:ext uri="{FF2B5EF4-FFF2-40B4-BE49-F238E27FC236}">
                <a16:creationId xmlns:a16="http://schemas.microsoft.com/office/drawing/2014/main" id="{CD0D0034-0DC5-A20B-4DF1-16C286B66A4C}"/>
              </a:ext>
            </a:extLst>
          </p:cNvPr>
          <p:cNvGraphicFramePr>
            <a:graphicFrameLocks noGrp="1"/>
          </p:cNvGraphicFramePr>
          <p:nvPr>
            <p:extLst>
              <p:ext uri="{D42A27DB-BD31-4B8C-83A1-F6EECF244321}">
                <p14:modId xmlns:p14="http://schemas.microsoft.com/office/powerpoint/2010/main" val="2990607611"/>
              </p:ext>
            </p:extLst>
          </p:nvPr>
        </p:nvGraphicFramePr>
        <p:xfrm>
          <a:off x="352151" y="4653136"/>
          <a:ext cx="6103892" cy="731520"/>
        </p:xfrm>
        <a:graphic>
          <a:graphicData uri="http://schemas.openxmlformats.org/drawingml/2006/table">
            <a:tbl>
              <a:tblPr firstRow="1" bandRow="1">
                <a:tableStyleId>{5C22544A-7EE6-4342-B048-85BDC9FD1C3A}</a:tableStyleId>
              </a:tblPr>
              <a:tblGrid>
                <a:gridCol w="3727628">
                  <a:extLst>
                    <a:ext uri="{9D8B030D-6E8A-4147-A177-3AD203B41FA5}">
                      <a16:colId xmlns:a16="http://schemas.microsoft.com/office/drawing/2014/main" val="3982204163"/>
                    </a:ext>
                  </a:extLst>
                </a:gridCol>
                <a:gridCol w="2376264">
                  <a:extLst>
                    <a:ext uri="{9D8B030D-6E8A-4147-A177-3AD203B41FA5}">
                      <a16:colId xmlns:a16="http://schemas.microsoft.com/office/drawing/2014/main" val="764566465"/>
                    </a:ext>
                  </a:extLst>
                </a:gridCol>
              </a:tblGrid>
              <a:tr h="345564">
                <a:tc>
                  <a:txBody>
                    <a:bodyPr/>
                    <a:lstStyle/>
                    <a:p>
                      <a:pPr algn="ctr"/>
                      <a:r>
                        <a:rPr lang="en-US" b="1" dirty="0"/>
                        <a:t>STUDENT NAME</a:t>
                      </a:r>
                      <a:endParaRPr lang="en-IN" b="1" dirty="0"/>
                    </a:p>
                  </a:txBody>
                  <a:tcPr/>
                </a:tc>
                <a:tc>
                  <a:txBody>
                    <a:bodyPr/>
                    <a:lstStyle/>
                    <a:p>
                      <a:pPr algn="ctr"/>
                      <a:r>
                        <a:rPr lang="en-US" dirty="0"/>
                        <a:t>REGISTER NUMBER</a:t>
                      </a:r>
                      <a:endParaRPr lang="en-IN" dirty="0"/>
                    </a:p>
                  </a:txBody>
                  <a:tcPr/>
                </a:tc>
                <a:extLst>
                  <a:ext uri="{0D108BD9-81ED-4DB2-BD59-A6C34878D82A}">
                    <a16:rowId xmlns:a16="http://schemas.microsoft.com/office/drawing/2014/main" val="4117151324"/>
                  </a:ext>
                </a:extLst>
              </a:tr>
              <a:tr h="183566">
                <a:tc>
                  <a:txBody>
                    <a:bodyPr/>
                    <a:lstStyle/>
                    <a:p>
                      <a:pPr algn="ctr"/>
                      <a:r>
                        <a:rPr lang="en-US" dirty="0">
                          <a:latin typeface="Times New Roman" pitchFamily="18" charset="0"/>
                          <a:cs typeface="Times New Roman" pitchFamily="18" charset="0"/>
                        </a:rPr>
                        <a:t>K.SHANTHINI</a:t>
                      </a:r>
                      <a:endParaRPr lang="en-IN" dirty="0">
                        <a:latin typeface="Times New Roman" pitchFamily="18" charset="0"/>
                        <a:cs typeface="Times New Roman" pitchFamily="18" charset="0"/>
                      </a:endParaRPr>
                    </a:p>
                  </a:txBody>
                  <a:tcPr/>
                </a:tc>
                <a:tc>
                  <a:txBody>
                    <a:bodyPr/>
                    <a:lstStyle/>
                    <a:p>
                      <a:pPr algn="ctr"/>
                      <a:r>
                        <a:rPr lang="en-US" dirty="0">
                          <a:latin typeface="Times New Roman" pitchFamily="18" charset="0"/>
                          <a:cs typeface="Times New Roman" pitchFamily="18" charset="0"/>
                        </a:rPr>
                        <a:t>61782324401049</a:t>
                      </a:r>
                    </a:p>
                  </a:txBody>
                  <a:tcPr/>
                </a:tc>
                <a:extLst>
                  <a:ext uri="{0D108BD9-81ED-4DB2-BD59-A6C34878D82A}">
                    <a16:rowId xmlns:a16="http://schemas.microsoft.com/office/drawing/2014/main" val="10001"/>
                  </a:ext>
                </a:extLst>
              </a:tr>
            </a:tbl>
          </a:graphicData>
        </a:graphic>
      </p:graphicFrame>
      <p:sp>
        <p:nvSpPr>
          <p:cNvPr id="3" name="Footer Placeholder 2"/>
          <p:cNvSpPr>
            <a:spLocks noGrp="1"/>
          </p:cNvSpPr>
          <p:nvPr>
            <p:ph type="ftr" sz="quarter" idx="11"/>
          </p:nvPr>
        </p:nvSpPr>
        <p:spPr/>
        <p:txBody>
          <a:bodyPr/>
          <a:lstStyle/>
          <a:p>
            <a:r>
              <a:rPr lang="en-US" dirty="0"/>
              <a:t>NGO MANAGEMENT SOFTWARE</a:t>
            </a:r>
            <a:endParaRPr lang="en-IN" dirty="0"/>
          </a:p>
        </p:txBody>
      </p:sp>
    </p:spTree>
    <p:extLst>
      <p:ext uri="{BB962C8B-B14F-4D97-AF65-F5344CB8AC3E}">
        <p14:creationId xmlns:p14="http://schemas.microsoft.com/office/powerpoint/2010/main" val="8639651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600" b="1" dirty="0">
                <a:latin typeface="Times New Roman" panose="02020603050405020304" pitchFamily="18" charset="0"/>
                <a:cs typeface="Times New Roman" panose="02020603050405020304" pitchFamily="18" charset="0"/>
              </a:rPr>
              <a:t>COMPANY PROFILE </a:t>
            </a:r>
          </a:p>
        </p:txBody>
      </p:sp>
      <p:sp>
        <p:nvSpPr>
          <p:cNvPr id="3" name="Content Placeholder 2"/>
          <p:cNvSpPr>
            <a:spLocks noGrp="1"/>
          </p:cNvSpPr>
          <p:nvPr>
            <p:ph idx="1"/>
          </p:nvPr>
        </p:nvSpPr>
        <p:spPr>
          <a:xfrm>
            <a:off x="1290512" y="1580665"/>
            <a:ext cx="10392408" cy="4775685"/>
          </a:xfrm>
        </p:spPr>
        <p:txBody>
          <a:bodyPr>
            <a:noAutofit/>
          </a:bodyPr>
          <a:lstStyle/>
          <a:p>
            <a:pPr marL="0" indent="0">
              <a:buNone/>
            </a:pPr>
            <a:r>
              <a:rPr lang="en-IN" sz="1800" b="1" dirty="0">
                <a:latin typeface="Times" panose="02020603050405020304" pitchFamily="18" charset="0"/>
                <a:cs typeface="Times" panose="02020603050405020304" pitchFamily="18" charset="0"/>
              </a:rPr>
              <a:t>Company Name</a:t>
            </a:r>
          </a:p>
          <a:p>
            <a:pPr marL="0" indent="0">
              <a:buNone/>
            </a:pPr>
            <a:r>
              <a:rPr lang="en-IN" sz="1800" b="1" dirty="0">
                <a:latin typeface="Times" panose="02020603050405020304" pitchFamily="18" charset="0"/>
                <a:cs typeface="Times" panose="02020603050405020304" pitchFamily="18" charset="0"/>
              </a:rPr>
              <a:t>	ARCASCEND DIGITECH PRIVATE LIMITED</a:t>
            </a:r>
            <a:endParaRPr lang="en-IN" sz="1800" dirty="0">
              <a:latin typeface="Times" panose="02020603050405020304" pitchFamily="18" charset="0"/>
              <a:cs typeface="Times" panose="02020603050405020304" pitchFamily="18" charset="0"/>
            </a:endParaRPr>
          </a:p>
          <a:p>
            <a:pPr marL="0" indent="0">
              <a:buNone/>
            </a:pPr>
            <a:r>
              <a:rPr lang="en-IN" sz="1800" b="1" dirty="0">
                <a:latin typeface="Times" panose="02020603050405020304" pitchFamily="18" charset="0"/>
                <a:cs typeface="Times" panose="02020603050405020304" pitchFamily="18" charset="0"/>
              </a:rPr>
              <a:t>Company Type</a:t>
            </a:r>
          </a:p>
          <a:p>
            <a:pPr marL="0" indent="0">
              <a:buNone/>
            </a:pPr>
            <a:r>
              <a:rPr lang="en-IN" sz="1800" dirty="0">
                <a:latin typeface="Times" panose="02020603050405020304" pitchFamily="18" charset="0"/>
                <a:cs typeface="Times" panose="02020603050405020304" pitchFamily="18" charset="0"/>
              </a:rPr>
              <a:t>	Private Limited – IT &amp; Software Solutions</a:t>
            </a:r>
          </a:p>
          <a:p>
            <a:pPr marL="0" indent="0">
              <a:buNone/>
            </a:pPr>
            <a:r>
              <a:rPr lang="en-IN" sz="1800" b="1" dirty="0">
                <a:latin typeface="Times" panose="02020603050405020304" pitchFamily="18" charset="0"/>
                <a:cs typeface="Times" panose="02020603050405020304" pitchFamily="18" charset="0"/>
              </a:rPr>
              <a:t>Registered Office</a:t>
            </a:r>
          </a:p>
          <a:p>
            <a:pPr marL="0" indent="0">
              <a:buNone/>
            </a:pPr>
            <a:r>
              <a:rPr lang="en-IN" sz="1800" dirty="0">
                <a:latin typeface="Times" panose="02020603050405020304" pitchFamily="18" charset="0"/>
                <a:cs typeface="Times" panose="02020603050405020304" pitchFamily="18" charset="0"/>
              </a:rPr>
              <a:t>    	 207-B, Mathur MMDA, Mathur Main Road,</a:t>
            </a:r>
            <a:br>
              <a:rPr lang="en-IN" sz="1800" dirty="0">
                <a:latin typeface="Times" panose="02020603050405020304" pitchFamily="18" charset="0"/>
                <a:cs typeface="Times" panose="02020603050405020304" pitchFamily="18" charset="0"/>
              </a:rPr>
            </a:br>
            <a:r>
              <a:rPr lang="en-IN" sz="1800" dirty="0">
                <a:latin typeface="Times" panose="02020603050405020304" pitchFamily="18" charset="0"/>
                <a:cs typeface="Times" panose="02020603050405020304" pitchFamily="18" charset="0"/>
              </a:rPr>
              <a:t>     	Mathur, Chennai – 600068</a:t>
            </a:r>
          </a:p>
          <a:p>
            <a:pPr marL="0" indent="0">
              <a:buNone/>
            </a:pPr>
            <a:r>
              <a:rPr lang="en-IN" sz="1800" b="1" dirty="0">
                <a:latin typeface="Times" panose="02020603050405020304" pitchFamily="18" charset="0"/>
                <a:cs typeface="Times" panose="02020603050405020304" pitchFamily="18" charset="0"/>
              </a:rPr>
              <a:t>Domain</a:t>
            </a:r>
          </a:p>
          <a:p>
            <a:pPr marL="0" indent="0">
              <a:buNone/>
            </a:pPr>
            <a:r>
              <a:rPr lang="en-IN" sz="1800" dirty="0">
                <a:latin typeface="Times" panose="02020603050405020304" pitchFamily="18" charset="0"/>
                <a:cs typeface="Times" panose="02020603050405020304" pitchFamily="18" charset="0"/>
              </a:rPr>
              <a:t> 	 Web Application Development &amp; Digital Solutions</a:t>
            </a:r>
          </a:p>
          <a:p>
            <a:pPr marL="0" indent="0" algn="just">
              <a:lnSpc>
                <a:spcPct val="100000"/>
              </a:lnSpc>
              <a:buNone/>
            </a:pPr>
            <a:r>
              <a:rPr lang="en-US" sz="1800" dirty="0">
                <a:latin typeface="Times" panose="02020603050405020304" pitchFamily="18" charset="0"/>
                <a:cs typeface="Times" panose="02020603050405020304" pitchFamily="18" charset="0"/>
              </a:rPr>
              <a:t>ARCASCEND DIGITECH PRIVATE LIMITED is a technology-focused organization providing software development solutions for real-world applications. The company supports academic and industry-oriented projects and offers internship training in full stack development. The organization emphasizes modern technologies, secure application development, and practical learning.</a:t>
            </a:r>
          </a:p>
        </p:txBody>
      </p:sp>
      <p:sp>
        <p:nvSpPr>
          <p:cNvPr id="5" name="Footer Placeholder 4"/>
          <p:cNvSpPr>
            <a:spLocks noGrp="1"/>
          </p:cNvSpPr>
          <p:nvPr>
            <p:ph type="ftr" sz="quarter" idx="11"/>
          </p:nvPr>
        </p:nvSpPr>
        <p:spPr/>
        <p:txBody>
          <a:bodyPr/>
          <a:lstStyle/>
          <a:p>
            <a:r>
              <a:rPr lang="en-IN"/>
              <a:t>NGO MANAGEMENT SOFTWARE</a:t>
            </a:r>
            <a:endParaRPr lang="en-IN" dirty="0"/>
          </a:p>
        </p:txBody>
      </p:sp>
      <p:sp>
        <p:nvSpPr>
          <p:cNvPr id="6" name="Slide Number Placeholder 5"/>
          <p:cNvSpPr>
            <a:spLocks noGrp="1"/>
          </p:cNvSpPr>
          <p:nvPr>
            <p:ph type="sldNum" sz="quarter" idx="12"/>
          </p:nvPr>
        </p:nvSpPr>
        <p:spPr/>
        <p:txBody>
          <a:bodyPr/>
          <a:lstStyle/>
          <a:p>
            <a:fld id="{EC723807-FF10-4730-B603-EA98888C76C4}" type="slidenum">
              <a:rPr lang="en-IN" smtClean="0"/>
              <a:t>2</a:t>
            </a:fld>
            <a:endParaRPr lang="en-IN"/>
          </a:p>
        </p:txBody>
      </p:sp>
    </p:spTree>
    <p:extLst>
      <p:ext uri="{BB962C8B-B14F-4D97-AF65-F5344CB8AC3E}">
        <p14:creationId xmlns:p14="http://schemas.microsoft.com/office/powerpoint/2010/main" val="5497806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2EE5AD-C6E7-286A-F250-6CECE3178D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FAF80A-42A6-59D8-B1EB-064E91FB5734}"/>
              </a:ext>
            </a:extLst>
          </p:cNvPr>
          <p:cNvSpPr>
            <a:spLocks noGrp="1"/>
          </p:cNvSpPr>
          <p:nvPr>
            <p:ph type="title"/>
          </p:nvPr>
        </p:nvSpPr>
        <p:spPr/>
        <p:txBody>
          <a:bodyPr>
            <a:normAutofit/>
          </a:bodyPr>
          <a:lstStyle/>
          <a:p>
            <a:pPr algn="ctr"/>
            <a:r>
              <a:rPr lang="en-US" sz="3600" b="1" dirty="0">
                <a:latin typeface="Times New Roman" panose="02020603050405020304" pitchFamily="18" charset="0"/>
                <a:cs typeface="Times New Roman" panose="02020603050405020304" pitchFamily="18" charset="0"/>
              </a:rPr>
              <a:t>ABSTRACT</a:t>
            </a:r>
          </a:p>
        </p:txBody>
      </p:sp>
      <p:sp>
        <p:nvSpPr>
          <p:cNvPr id="3" name="Content Placeholder 2">
            <a:extLst>
              <a:ext uri="{FF2B5EF4-FFF2-40B4-BE49-F238E27FC236}">
                <a16:creationId xmlns:a16="http://schemas.microsoft.com/office/drawing/2014/main" id="{273EE011-2B75-FC72-AAEC-FBAE56E80793}"/>
              </a:ext>
            </a:extLst>
          </p:cNvPr>
          <p:cNvSpPr>
            <a:spLocks noGrp="1"/>
          </p:cNvSpPr>
          <p:nvPr>
            <p:ph idx="1"/>
          </p:nvPr>
        </p:nvSpPr>
        <p:spPr>
          <a:xfrm>
            <a:off x="1290511" y="1580666"/>
            <a:ext cx="10515600" cy="4351338"/>
          </a:xfrm>
        </p:spPr>
        <p:txBody>
          <a:bodyPr>
            <a:normAutofit/>
          </a:bodyPr>
          <a:lstStyle/>
          <a:p>
            <a:pPr marL="0" indent="0" algn="just">
              <a:lnSpc>
                <a:spcPct val="150000"/>
              </a:lnSpc>
              <a:buNone/>
            </a:pPr>
            <a:r>
              <a:rPr lang="en-US" sz="2000" dirty="0">
                <a:latin typeface="Times New Roman" pitchFamily="18" charset="0"/>
                <a:cs typeface="Times New Roman" pitchFamily="18" charset="0"/>
              </a:rPr>
              <a:t>NGO Management Software is a web-based application designed to manage and automate the day-to-day activities of Non-Governmental Organizations. Many NGOs face difficulties in handling donor records, beneficiaries, projects, and financial reports manually. This project aims to develop a centralized system that allows NGOs to efficiently manage data related to donations, volunteers, events, and beneficiaries. The system improves accuracy, transparency, and accessibility of information while reducing paperwork and manual effort. The application is developed using modern full-stack technologies to ensure scalability and ease of use.</a:t>
            </a:r>
          </a:p>
          <a:p>
            <a:pPr marL="0" indent="0">
              <a:buNone/>
            </a:pPr>
            <a:endParaRPr lang="en-US" sz="2000" dirty="0"/>
          </a:p>
        </p:txBody>
      </p:sp>
      <p:sp>
        <p:nvSpPr>
          <p:cNvPr id="5" name="Footer Placeholder 4">
            <a:extLst>
              <a:ext uri="{FF2B5EF4-FFF2-40B4-BE49-F238E27FC236}">
                <a16:creationId xmlns:a16="http://schemas.microsoft.com/office/drawing/2014/main" id="{32CA7736-8485-0CCC-2CF8-69D7A0BD1491}"/>
              </a:ext>
            </a:extLst>
          </p:cNvPr>
          <p:cNvSpPr>
            <a:spLocks noGrp="1"/>
          </p:cNvSpPr>
          <p:nvPr>
            <p:ph type="ftr" sz="quarter" idx="11"/>
          </p:nvPr>
        </p:nvSpPr>
        <p:spPr/>
        <p:txBody>
          <a:bodyPr/>
          <a:lstStyle/>
          <a:p>
            <a:r>
              <a:rPr lang="en-IN"/>
              <a:t>NGO MANAGEMENT SOFTWARE</a:t>
            </a:r>
            <a:endParaRPr lang="en-IN" dirty="0"/>
          </a:p>
        </p:txBody>
      </p:sp>
      <p:sp>
        <p:nvSpPr>
          <p:cNvPr id="6" name="Slide Number Placeholder 5">
            <a:extLst>
              <a:ext uri="{FF2B5EF4-FFF2-40B4-BE49-F238E27FC236}">
                <a16:creationId xmlns:a16="http://schemas.microsoft.com/office/drawing/2014/main" id="{21410DF4-1BA8-6F19-FB78-A1FCB3B4102C}"/>
              </a:ext>
            </a:extLst>
          </p:cNvPr>
          <p:cNvSpPr>
            <a:spLocks noGrp="1"/>
          </p:cNvSpPr>
          <p:nvPr>
            <p:ph type="sldNum" sz="quarter" idx="12"/>
          </p:nvPr>
        </p:nvSpPr>
        <p:spPr/>
        <p:txBody>
          <a:bodyPr/>
          <a:lstStyle/>
          <a:p>
            <a:fld id="{EC723807-FF10-4730-B603-EA98888C76C4}" type="slidenum">
              <a:rPr lang="en-IN" smtClean="0"/>
              <a:t>3</a:t>
            </a:fld>
            <a:endParaRPr lang="en-IN"/>
          </a:p>
        </p:txBody>
      </p:sp>
    </p:spTree>
    <p:extLst>
      <p:ext uri="{BB962C8B-B14F-4D97-AF65-F5344CB8AC3E}">
        <p14:creationId xmlns:p14="http://schemas.microsoft.com/office/powerpoint/2010/main" val="5869233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DBB301-0BE7-D50C-35F3-4692DC3C61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4029C3-8ED6-A8BF-EAC9-9C063EC123E5}"/>
              </a:ext>
            </a:extLst>
          </p:cNvPr>
          <p:cNvSpPr>
            <a:spLocks noGrp="1"/>
          </p:cNvSpPr>
          <p:nvPr>
            <p:ph type="title"/>
          </p:nvPr>
        </p:nvSpPr>
        <p:spPr/>
        <p:txBody>
          <a:bodyPr>
            <a:normAutofit/>
          </a:bodyPr>
          <a:lstStyle/>
          <a:p>
            <a:pPr algn="ctr"/>
            <a:r>
              <a:rPr lang="en-US" sz="3600" b="1" dirty="0">
                <a:latin typeface="Times New Roman" panose="02020603050405020304" pitchFamily="18" charset="0"/>
                <a:cs typeface="Times New Roman" panose="02020603050405020304" pitchFamily="18" charset="0"/>
              </a:rPr>
              <a:t>PROBLEM STATEMENT</a:t>
            </a:r>
          </a:p>
        </p:txBody>
      </p:sp>
      <p:sp>
        <p:nvSpPr>
          <p:cNvPr id="3" name="Content Placeholder 2">
            <a:extLst>
              <a:ext uri="{FF2B5EF4-FFF2-40B4-BE49-F238E27FC236}">
                <a16:creationId xmlns:a16="http://schemas.microsoft.com/office/drawing/2014/main" id="{717504F5-DDDF-5751-7B34-0A9FB186D587}"/>
              </a:ext>
            </a:extLst>
          </p:cNvPr>
          <p:cNvSpPr>
            <a:spLocks noGrp="1"/>
          </p:cNvSpPr>
          <p:nvPr>
            <p:ph idx="1"/>
          </p:nvPr>
        </p:nvSpPr>
        <p:spPr>
          <a:xfrm>
            <a:off x="1290511" y="1580666"/>
            <a:ext cx="10515600" cy="4351338"/>
          </a:xfrm>
        </p:spPr>
        <p:txBody>
          <a:bodyPr>
            <a:normAutofit/>
          </a:bodyPr>
          <a:lstStyle/>
          <a:p>
            <a:pPr algn="just"/>
            <a:r>
              <a:rPr lang="en-US" sz="2000" dirty="0">
                <a:latin typeface="Times" panose="02020603050405020304" pitchFamily="18" charset="0"/>
                <a:cs typeface="Times" panose="02020603050405020304" pitchFamily="18" charset="0"/>
              </a:rPr>
              <a:t>Non-Governmental Organizations (NGOs) operate in the social welfare domain and manage activities such as donors, volunteers, beneficiaries, and fund distribution. Many NGOs still use manual records or spreadsheet-based systems for data management.</a:t>
            </a:r>
          </a:p>
          <a:p>
            <a:pPr algn="just"/>
            <a:r>
              <a:rPr lang="en-US" sz="2000" dirty="0">
                <a:latin typeface="Times" panose="02020603050405020304" pitchFamily="18" charset="0"/>
                <a:cs typeface="Times" panose="02020603050405020304" pitchFamily="18" charset="0"/>
              </a:rPr>
              <a:t>The key problem is the absence of a centralized and automated system to manage NGO operations efficiently, making data handling slow and error-prone.</a:t>
            </a:r>
          </a:p>
          <a:p>
            <a:pPr algn="just"/>
            <a:r>
              <a:rPr lang="en-US" sz="2000" dirty="0">
                <a:latin typeface="Times" panose="02020603050405020304" pitchFamily="18" charset="0"/>
                <a:cs typeface="Times" panose="02020603050405020304" pitchFamily="18" charset="0"/>
              </a:rPr>
              <a:t>This issue affects transparency, accountability, and decision-making, as data errors or loss can impact NGO services. Existing systems also suffer from limitations such as data redundancy, poor security, and difficulty in report generation.</a:t>
            </a:r>
          </a:p>
          <a:p>
            <a:pPr algn="just"/>
            <a:r>
              <a:rPr lang="en-US" sz="2000" dirty="0">
                <a:latin typeface="Times" panose="02020603050405020304" pitchFamily="18" charset="0"/>
                <a:cs typeface="Times" panose="02020603050405020304" pitchFamily="18" charset="0"/>
              </a:rPr>
              <a:t>This project aims to develop a web-based NGO Management Software to automate operations and provide a secure, centralized platform. The scope includes managing NGO administrative data but excludes external auditing and third-party integrations. The solution uses modern web technologies to ensure secure and efficient data management.</a:t>
            </a:r>
          </a:p>
          <a:p>
            <a:pPr marL="0" indent="0">
              <a:buNone/>
            </a:pPr>
            <a:endParaRPr lang="en-US" sz="2000" dirty="0"/>
          </a:p>
        </p:txBody>
      </p:sp>
      <p:sp>
        <p:nvSpPr>
          <p:cNvPr id="5" name="Footer Placeholder 4">
            <a:extLst>
              <a:ext uri="{FF2B5EF4-FFF2-40B4-BE49-F238E27FC236}">
                <a16:creationId xmlns:a16="http://schemas.microsoft.com/office/drawing/2014/main" id="{23E735B2-6858-9B92-E9CD-447A85770C1B}"/>
              </a:ext>
            </a:extLst>
          </p:cNvPr>
          <p:cNvSpPr>
            <a:spLocks noGrp="1"/>
          </p:cNvSpPr>
          <p:nvPr>
            <p:ph type="ftr" sz="quarter" idx="11"/>
          </p:nvPr>
        </p:nvSpPr>
        <p:spPr/>
        <p:txBody>
          <a:bodyPr/>
          <a:lstStyle/>
          <a:p>
            <a:r>
              <a:rPr lang="en-IN"/>
              <a:t>NGO MANAGEMENT SOFTWARE</a:t>
            </a:r>
          </a:p>
        </p:txBody>
      </p:sp>
      <p:sp>
        <p:nvSpPr>
          <p:cNvPr id="6" name="Slide Number Placeholder 5">
            <a:extLst>
              <a:ext uri="{FF2B5EF4-FFF2-40B4-BE49-F238E27FC236}">
                <a16:creationId xmlns:a16="http://schemas.microsoft.com/office/drawing/2014/main" id="{A8947EB8-C79F-A173-0FB6-F55099DEDC64}"/>
              </a:ext>
            </a:extLst>
          </p:cNvPr>
          <p:cNvSpPr>
            <a:spLocks noGrp="1"/>
          </p:cNvSpPr>
          <p:nvPr>
            <p:ph type="sldNum" sz="quarter" idx="12"/>
          </p:nvPr>
        </p:nvSpPr>
        <p:spPr/>
        <p:txBody>
          <a:bodyPr/>
          <a:lstStyle/>
          <a:p>
            <a:fld id="{EC723807-FF10-4730-B603-EA98888C76C4}" type="slidenum">
              <a:rPr lang="en-IN" smtClean="0"/>
              <a:t>4</a:t>
            </a:fld>
            <a:endParaRPr lang="en-IN"/>
          </a:p>
        </p:txBody>
      </p:sp>
    </p:spTree>
    <p:extLst>
      <p:ext uri="{BB962C8B-B14F-4D97-AF65-F5344CB8AC3E}">
        <p14:creationId xmlns:p14="http://schemas.microsoft.com/office/powerpoint/2010/main" val="40552107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DD22A-9DC8-4038-AB97-E2CCFBCDD2E7}"/>
              </a:ext>
            </a:extLst>
          </p:cNvPr>
          <p:cNvSpPr>
            <a:spLocks noGrp="1"/>
          </p:cNvSpPr>
          <p:nvPr>
            <p:ph type="title"/>
          </p:nvPr>
        </p:nvSpPr>
        <p:spPr/>
        <p:txBody>
          <a:bodyPr>
            <a:normAutofit/>
          </a:bodyPr>
          <a:lstStyle/>
          <a:p>
            <a:pPr algn="ctr"/>
            <a:r>
              <a:rPr lang="en-US" sz="3600" b="1" dirty="0">
                <a:latin typeface="Times New Roman" panose="02020603050405020304" pitchFamily="18" charset="0"/>
                <a:cs typeface="Times New Roman" panose="02020603050405020304" pitchFamily="18" charset="0"/>
              </a:rPr>
              <a:t>OBJECTIVES</a:t>
            </a:r>
            <a:r>
              <a:rPr lang="en-US" sz="3600" dirty="0">
                <a:latin typeface="Times New Roman" panose="02020603050405020304" pitchFamily="18" charset="0"/>
                <a:cs typeface="Times New Roman" panose="02020603050405020304" pitchFamily="18" charset="0"/>
              </a:rPr>
              <a:t> </a:t>
            </a:r>
            <a:endParaRPr lang="en-IN" sz="3600" dirty="0">
              <a:latin typeface="Times New Roman" panose="02020603050405020304" pitchFamily="18" charset="0"/>
              <a:cs typeface="Times New Roman" panose="02020603050405020304" pitchFamily="18" charset="0"/>
            </a:endParaRPr>
          </a:p>
        </p:txBody>
      </p:sp>
      <p:sp>
        <p:nvSpPr>
          <p:cNvPr id="5" name="Footer Placeholder 4"/>
          <p:cNvSpPr>
            <a:spLocks noGrp="1"/>
          </p:cNvSpPr>
          <p:nvPr>
            <p:ph type="ftr" sz="quarter" idx="11"/>
          </p:nvPr>
        </p:nvSpPr>
        <p:spPr/>
        <p:txBody>
          <a:bodyPr/>
          <a:lstStyle/>
          <a:p>
            <a:r>
              <a:rPr lang="en-IN"/>
              <a:t>NGO MANAGEMENT SOFTWARE</a:t>
            </a:r>
          </a:p>
        </p:txBody>
      </p:sp>
      <p:sp>
        <p:nvSpPr>
          <p:cNvPr id="6" name="Slide Number Placeholder 5"/>
          <p:cNvSpPr>
            <a:spLocks noGrp="1"/>
          </p:cNvSpPr>
          <p:nvPr>
            <p:ph type="sldNum" sz="quarter" idx="12"/>
          </p:nvPr>
        </p:nvSpPr>
        <p:spPr/>
        <p:txBody>
          <a:bodyPr/>
          <a:lstStyle/>
          <a:p>
            <a:fld id="{EC723807-FF10-4730-B603-EA98888C76C4}" type="slidenum">
              <a:rPr lang="en-IN" smtClean="0"/>
              <a:t>5</a:t>
            </a:fld>
            <a:endParaRPr lang="en-IN"/>
          </a:p>
        </p:txBody>
      </p:sp>
      <p:sp>
        <p:nvSpPr>
          <p:cNvPr id="8" name="Rectangle 2">
            <a:extLst>
              <a:ext uri="{FF2B5EF4-FFF2-40B4-BE49-F238E27FC236}">
                <a16:creationId xmlns:a16="http://schemas.microsoft.com/office/drawing/2014/main" id="{4AF8AACC-094A-3B09-A6C7-7635F9BF03A0}"/>
              </a:ext>
            </a:extLst>
          </p:cNvPr>
          <p:cNvSpPr>
            <a:spLocks noGrp="1" noChangeArrowheads="1"/>
          </p:cNvSpPr>
          <p:nvPr>
            <p:ph idx="1"/>
          </p:nvPr>
        </p:nvSpPr>
        <p:spPr bwMode="auto">
          <a:xfrm>
            <a:off x="800099" y="1562827"/>
            <a:ext cx="10775816" cy="38072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2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panose="02020603050405020304" pitchFamily="18" charset="0"/>
                <a:cs typeface="Times" panose="02020603050405020304" pitchFamily="18" charset="0"/>
              </a:rPr>
              <a:t>Develop</a:t>
            </a:r>
            <a:r>
              <a:rPr kumimoji="0" lang="en-US" altLang="en-US" sz="2000" b="0" i="0" u="none" strike="noStrike" cap="none" normalizeH="0" baseline="0" dirty="0">
                <a:ln>
                  <a:noFill/>
                </a:ln>
                <a:solidFill>
                  <a:schemeClr val="tx1"/>
                </a:solidFill>
                <a:effectLst/>
                <a:latin typeface="Times" panose="02020603050405020304" pitchFamily="18" charset="0"/>
                <a:cs typeface="Times" panose="02020603050405020304" pitchFamily="18" charset="0"/>
              </a:rPr>
              <a:t> a web-based NGO Management Software to manage organizational activities efficiently.</a:t>
            </a:r>
          </a:p>
          <a:p>
            <a:pPr marL="0" marR="0" lvl="0" indent="0" algn="just" defTabSz="914400" rtl="0" eaLnBrk="0" fontAlgn="base" latinLnBrk="0" hangingPunct="0">
              <a:lnSpc>
                <a:spcPct val="2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panose="02020603050405020304" pitchFamily="18" charset="0"/>
                <a:cs typeface="Times" panose="02020603050405020304" pitchFamily="18" charset="0"/>
              </a:rPr>
              <a:t>Automate</a:t>
            </a:r>
            <a:r>
              <a:rPr kumimoji="0" lang="en-US" altLang="en-US" sz="2000" b="0" i="0" u="none" strike="noStrike" cap="none" normalizeH="0" baseline="0" dirty="0">
                <a:ln>
                  <a:noFill/>
                </a:ln>
                <a:solidFill>
                  <a:schemeClr val="tx1"/>
                </a:solidFill>
                <a:effectLst/>
                <a:latin typeface="Times" panose="02020603050405020304" pitchFamily="18" charset="0"/>
                <a:cs typeface="Times" panose="02020603050405020304" pitchFamily="18" charset="0"/>
              </a:rPr>
              <a:t> the management of donors, volunteers, beneficiaries, and NGO records.</a:t>
            </a:r>
          </a:p>
          <a:p>
            <a:pPr marL="0" marR="0" lvl="0" indent="0" algn="just" defTabSz="914400" rtl="0" eaLnBrk="0" fontAlgn="base" latinLnBrk="0" hangingPunct="0">
              <a:lnSpc>
                <a:spcPct val="2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panose="02020603050405020304" pitchFamily="18" charset="0"/>
                <a:cs typeface="Times" panose="02020603050405020304" pitchFamily="18" charset="0"/>
              </a:rPr>
              <a:t>Implement</a:t>
            </a:r>
            <a:r>
              <a:rPr kumimoji="0" lang="en-US" altLang="en-US" sz="2000" b="0" i="0" u="none" strike="noStrike" cap="none" normalizeH="0" baseline="0" dirty="0">
                <a:ln>
                  <a:noFill/>
                </a:ln>
                <a:solidFill>
                  <a:schemeClr val="tx1"/>
                </a:solidFill>
                <a:effectLst/>
                <a:latin typeface="Times" panose="02020603050405020304" pitchFamily="18" charset="0"/>
                <a:cs typeface="Times" panose="02020603050405020304" pitchFamily="18" charset="0"/>
              </a:rPr>
              <a:t> secure user authentication to protect sensitive data.</a:t>
            </a:r>
          </a:p>
          <a:p>
            <a:pPr marL="0" marR="0" lvl="0" indent="0" algn="just" defTabSz="914400" rtl="0" eaLnBrk="0" fontAlgn="base" latinLnBrk="0" hangingPunct="0">
              <a:lnSpc>
                <a:spcPct val="2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panose="02020603050405020304" pitchFamily="18" charset="0"/>
                <a:cs typeface="Times" panose="02020603050405020304" pitchFamily="18" charset="0"/>
              </a:rPr>
              <a:t>Design</a:t>
            </a:r>
            <a:r>
              <a:rPr kumimoji="0" lang="en-US" altLang="en-US" sz="2000" b="0" i="0" u="none" strike="noStrike" cap="none" normalizeH="0" baseline="0" dirty="0">
                <a:ln>
                  <a:noFill/>
                </a:ln>
                <a:solidFill>
                  <a:schemeClr val="tx1"/>
                </a:solidFill>
                <a:effectLst/>
                <a:latin typeface="Times" panose="02020603050405020304" pitchFamily="18" charset="0"/>
                <a:cs typeface="Times" panose="02020603050405020304" pitchFamily="18" charset="0"/>
              </a:rPr>
              <a:t> a centralized database for accurate and reliable data storage.</a:t>
            </a:r>
          </a:p>
          <a:p>
            <a:pPr marL="0" marR="0" lvl="0" indent="0" algn="just" defTabSz="914400" rtl="0" eaLnBrk="0" fontAlgn="base" latinLnBrk="0" hangingPunct="0">
              <a:lnSpc>
                <a:spcPct val="2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panose="02020603050405020304" pitchFamily="18" charset="0"/>
                <a:cs typeface="Times" panose="02020603050405020304" pitchFamily="18" charset="0"/>
              </a:rPr>
              <a:t>Improve</a:t>
            </a:r>
            <a:r>
              <a:rPr kumimoji="0" lang="en-US" altLang="en-US" sz="2000" b="0" i="0" u="none" strike="noStrike" cap="none" normalizeH="0" baseline="0" dirty="0">
                <a:ln>
                  <a:noFill/>
                </a:ln>
                <a:solidFill>
                  <a:schemeClr val="tx1"/>
                </a:solidFill>
                <a:effectLst/>
                <a:latin typeface="Times" panose="02020603050405020304" pitchFamily="18" charset="0"/>
                <a:cs typeface="Times" panose="02020603050405020304" pitchFamily="18" charset="0"/>
              </a:rPr>
              <a:t> transparency, efficiency, and ease of access to organizational information.</a:t>
            </a:r>
          </a:p>
        </p:txBody>
      </p:sp>
    </p:spTree>
    <p:extLst>
      <p:ext uri="{BB962C8B-B14F-4D97-AF65-F5344CB8AC3E}">
        <p14:creationId xmlns:p14="http://schemas.microsoft.com/office/powerpoint/2010/main" val="33431172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E3507A-3B47-A2AF-760A-24FBE771521C}"/>
              </a:ext>
            </a:extLst>
          </p:cNvPr>
          <p:cNvSpPr>
            <a:spLocks noGrp="1"/>
          </p:cNvSpPr>
          <p:nvPr>
            <p:ph type="title"/>
          </p:nvPr>
        </p:nvSpPr>
        <p:spPr>
          <a:xfrm>
            <a:off x="1356930" y="365126"/>
            <a:ext cx="9996870" cy="845110"/>
          </a:xfrm>
        </p:spPr>
        <p:txBody>
          <a:bodyPr>
            <a:normAutofit/>
          </a:bodyPr>
          <a:lstStyle/>
          <a:p>
            <a:pPr algn="ctr"/>
            <a:r>
              <a:rPr lang="en-US" sz="3600" b="1" dirty="0">
                <a:latin typeface="Times New Roman" panose="02020603050405020304" pitchFamily="18" charset="0"/>
                <a:cs typeface="Times New Roman" panose="02020603050405020304" pitchFamily="18" charset="0"/>
              </a:rPr>
              <a:t>EXISTING</a:t>
            </a:r>
            <a:r>
              <a:rPr lang="en-IN" sz="3600" b="1" dirty="0">
                <a:latin typeface="Times New Roman" panose="02020603050405020304" pitchFamily="18" charset="0"/>
                <a:cs typeface="Times New Roman" panose="02020603050405020304" pitchFamily="18" charset="0"/>
              </a:rPr>
              <a:t> SYSTEM </a:t>
            </a:r>
            <a:endParaRPr lang="en-US" sz="3600" dirty="0"/>
          </a:p>
        </p:txBody>
      </p:sp>
      <p:sp>
        <p:nvSpPr>
          <p:cNvPr id="3" name="Content Placeholder 2">
            <a:extLst>
              <a:ext uri="{FF2B5EF4-FFF2-40B4-BE49-F238E27FC236}">
                <a16:creationId xmlns:a16="http://schemas.microsoft.com/office/drawing/2014/main" id="{ACAFAC6B-EC48-7F02-9F59-BE60C6226B41}"/>
              </a:ext>
            </a:extLst>
          </p:cNvPr>
          <p:cNvSpPr>
            <a:spLocks noGrp="1"/>
          </p:cNvSpPr>
          <p:nvPr>
            <p:ph idx="1"/>
          </p:nvPr>
        </p:nvSpPr>
        <p:spPr>
          <a:xfrm>
            <a:off x="642606" y="1397765"/>
            <a:ext cx="10515600" cy="4351338"/>
          </a:xfrm>
        </p:spPr>
        <p:txBody>
          <a:bodyPr/>
          <a:lstStyle/>
          <a:p>
            <a:pPr marL="0" indent="0">
              <a:buNone/>
            </a:pPr>
            <a:r>
              <a:rPr lang="en-US" sz="2000" b="1" dirty="0">
                <a:latin typeface="Times" panose="02020603050405020304" pitchFamily="18" charset="0"/>
                <a:cs typeface="Times" panose="02020603050405020304" pitchFamily="18" charset="0"/>
              </a:rPr>
              <a:t>The existing system relies on:</a:t>
            </a:r>
          </a:p>
          <a:p>
            <a:r>
              <a:rPr lang="en-US" sz="2000" dirty="0">
                <a:latin typeface="Times" panose="02020603050405020304" pitchFamily="18" charset="0"/>
                <a:cs typeface="Times" panose="02020603050405020304" pitchFamily="18" charset="0"/>
              </a:rPr>
              <a:t>Manual record keeping</a:t>
            </a:r>
          </a:p>
          <a:p>
            <a:r>
              <a:rPr lang="en-US" sz="2000" dirty="0">
                <a:latin typeface="Times" panose="02020603050405020304" pitchFamily="18" charset="0"/>
                <a:cs typeface="Times" panose="02020603050405020304" pitchFamily="18" charset="0"/>
              </a:rPr>
              <a:t>Excel sheets</a:t>
            </a:r>
          </a:p>
          <a:p>
            <a:r>
              <a:rPr lang="en-US" sz="2000" dirty="0">
                <a:latin typeface="Times" panose="02020603050405020304" pitchFamily="18" charset="0"/>
                <a:cs typeface="Times" panose="02020603050405020304" pitchFamily="18" charset="0"/>
              </a:rPr>
              <a:t>Paper-based documentation</a:t>
            </a:r>
          </a:p>
          <a:p>
            <a:r>
              <a:rPr lang="en-US" sz="2000" dirty="0">
                <a:latin typeface="Times" panose="02020603050405020304" pitchFamily="18" charset="0"/>
                <a:cs typeface="Times" panose="02020603050405020304" pitchFamily="18" charset="0"/>
              </a:rPr>
              <a:t>These methods are simple but inefficient for large-scale NGO operations.</a:t>
            </a:r>
          </a:p>
        </p:txBody>
      </p:sp>
      <p:sp>
        <p:nvSpPr>
          <p:cNvPr id="5" name="Footer Placeholder 4"/>
          <p:cNvSpPr>
            <a:spLocks noGrp="1"/>
          </p:cNvSpPr>
          <p:nvPr>
            <p:ph type="ftr" sz="quarter" idx="11"/>
          </p:nvPr>
        </p:nvSpPr>
        <p:spPr/>
        <p:txBody>
          <a:bodyPr/>
          <a:lstStyle/>
          <a:p>
            <a:r>
              <a:rPr lang="en-IN"/>
              <a:t>NGO MANAGEMENT SOFTWARE</a:t>
            </a:r>
          </a:p>
        </p:txBody>
      </p:sp>
      <p:sp>
        <p:nvSpPr>
          <p:cNvPr id="6" name="Slide Number Placeholder 5"/>
          <p:cNvSpPr>
            <a:spLocks noGrp="1"/>
          </p:cNvSpPr>
          <p:nvPr>
            <p:ph type="sldNum" sz="quarter" idx="12"/>
          </p:nvPr>
        </p:nvSpPr>
        <p:spPr/>
        <p:txBody>
          <a:bodyPr/>
          <a:lstStyle/>
          <a:p>
            <a:fld id="{EC723807-FF10-4730-B603-EA98888C76C4}" type="slidenum">
              <a:rPr lang="en-IN" smtClean="0"/>
              <a:t>6</a:t>
            </a:fld>
            <a:endParaRPr lang="en-IN"/>
          </a:p>
        </p:txBody>
      </p:sp>
    </p:spTree>
    <p:extLst>
      <p:ext uri="{BB962C8B-B14F-4D97-AF65-F5344CB8AC3E}">
        <p14:creationId xmlns:p14="http://schemas.microsoft.com/office/powerpoint/2010/main" val="29712021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19D3F2F-3516-B88B-9BE3-539820716C6F}"/>
              </a:ext>
            </a:extLst>
          </p:cNvPr>
          <p:cNvSpPr>
            <a:spLocks noGrp="1"/>
          </p:cNvSpPr>
          <p:nvPr>
            <p:ph idx="1"/>
          </p:nvPr>
        </p:nvSpPr>
        <p:spPr/>
        <p:txBody>
          <a:bodyPr/>
          <a:lstStyle/>
          <a:p>
            <a:pPr algn="just"/>
            <a:r>
              <a:rPr lang="en-US" sz="2000" dirty="0">
                <a:latin typeface="Times" panose="02020603050405020304" pitchFamily="18" charset="0"/>
                <a:cs typeface="Times" panose="02020603050405020304" pitchFamily="18" charset="0"/>
              </a:rPr>
              <a:t>Data redundancy and inconsistency</a:t>
            </a:r>
          </a:p>
          <a:p>
            <a:pPr algn="just"/>
            <a:r>
              <a:rPr lang="en-US" sz="2000" dirty="0">
                <a:latin typeface="Times" panose="02020603050405020304" pitchFamily="18" charset="0"/>
                <a:cs typeface="Times" panose="02020603050405020304" pitchFamily="18" charset="0"/>
              </a:rPr>
              <a:t>High risk of data loss</a:t>
            </a:r>
          </a:p>
          <a:p>
            <a:pPr algn="just"/>
            <a:r>
              <a:rPr lang="en-US" sz="2000" dirty="0">
                <a:latin typeface="Times" panose="02020603050405020304" pitchFamily="18" charset="0"/>
                <a:cs typeface="Times" panose="02020603050405020304" pitchFamily="18" charset="0"/>
              </a:rPr>
              <a:t>Lack of security</a:t>
            </a:r>
          </a:p>
          <a:p>
            <a:pPr algn="just"/>
            <a:r>
              <a:rPr lang="en-US" sz="2000" dirty="0">
                <a:latin typeface="Times" panose="02020603050405020304" pitchFamily="18" charset="0"/>
                <a:cs typeface="Times" panose="02020603050405020304" pitchFamily="18" charset="0"/>
              </a:rPr>
              <a:t>Time-consuming data retrieval</a:t>
            </a:r>
          </a:p>
          <a:p>
            <a:pPr algn="just"/>
            <a:r>
              <a:rPr lang="en-US" sz="2000" dirty="0">
                <a:latin typeface="Times" panose="02020603050405020304" pitchFamily="18" charset="0"/>
                <a:cs typeface="Times" panose="02020603050405020304" pitchFamily="18" charset="0"/>
              </a:rPr>
              <a:t>Difficult report generation</a:t>
            </a:r>
          </a:p>
        </p:txBody>
      </p:sp>
      <p:sp>
        <p:nvSpPr>
          <p:cNvPr id="5" name="Title 1">
            <a:extLst>
              <a:ext uri="{FF2B5EF4-FFF2-40B4-BE49-F238E27FC236}">
                <a16:creationId xmlns:a16="http://schemas.microsoft.com/office/drawing/2014/main" id="{1131E618-5839-FDF1-55EB-473073E7D992}"/>
              </a:ext>
            </a:extLst>
          </p:cNvPr>
          <p:cNvSpPr txBox="1">
            <a:spLocks noGrp="1"/>
          </p:cNvSpPr>
          <p:nvPr>
            <p:ph type="title"/>
          </p:nvPr>
        </p:nvSpPr>
        <p:spPr>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3600" b="1" dirty="0">
                <a:latin typeface="Times New Roman" panose="02020603050405020304" pitchFamily="18" charset="0"/>
                <a:cs typeface="Times New Roman" panose="02020603050405020304" pitchFamily="18" charset="0"/>
              </a:rPr>
              <a:t>LIMITATIONS OF </a:t>
            </a:r>
            <a:r>
              <a:rPr lang="en-US" sz="3600" b="1" dirty="0">
                <a:latin typeface="Times New Roman" panose="02020603050405020304" pitchFamily="18" charset="0"/>
                <a:cs typeface="Times New Roman" panose="02020603050405020304" pitchFamily="18" charset="0"/>
              </a:rPr>
              <a:t>EXISTING</a:t>
            </a:r>
            <a:r>
              <a:rPr lang="en-IN" sz="3600" b="1" dirty="0">
                <a:latin typeface="Times New Roman" panose="02020603050405020304" pitchFamily="18" charset="0"/>
                <a:cs typeface="Times New Roman" panose="02020603050405020304" pitchFamily="18" charset="0"/>
              </a:rPr>
              <a:t> SYSTEM </a:t>
            </a:r>
            <a:endParaRPr lang="en-US" sz="3600" dirty="0"/>
          </a:p>
        </p:txBody>
      </p:sp>
      <p:sp>
        <p:nvSpPr>
          <p:cNvPr id="4" name="Footer Placeholder 3"/>
          <p:cNvSpPr>
            <a:spLocks noGrp="1"/>
          </p:cNvSpPr>
          <p:nvPr>
            <p:ph type="ftr" sz="quarter" idx="11"/>
          </p:nvPr>
        </p:nvSpPr>
        <p:spPr/>
        <p:txBody>
          <a:bodyPr/>
          <a:lstStyle/>
          <a:p>
            <a:r>
              <a:rPr lang="en-IN"/>
              <a:t>NGO MANAGEMENT SOFTWARE</a:t>
            </a:r>
          </a:p>
        </p:txBody>
      </p:sp>
      <p:sp>
        <p:nvSpPr>
          <p:cNvPr id="6" name="Slide Number Placeholder 5"/>
          <p:cNvSpPr>
            <a:spLocks noGrp="1"/>
          </p:cNvSpPr>
          <p:nvPr>
            <p:ph type="sldNum" sz="quarter" idx="12"/>
          </p:nvPr>
        </p:nvSpPr>
        <p:spPr/>
        <p:txBody>
          <a:bodyPr/>
          <a:lstStyle/>
          <a:p>
            <a:fld id="{EC723807-FF10-4730-B603-EA98888C76C4}" type="slidenum">
              <a:rPr lang="en-IN" smtClean="0"/>
              <a:t>7</a:t>
            </a:fld>
            <a:endParaRPr lang="en-IN"/>
          </a:p>
        </p:txBody>
      </p:sp>
    </p:spTree>
    <p:extLst>
      <p:ext uri="{BB962C8B-B14F-4D97-AF65-F5344CB8AC3E}">
        <p14:creationId xmlns:p14="http://schemas.microsoft.com/office/powerpoint/2010/main" val="7181983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D685A70-5006-F3CB-794F-4A93856B3F65}"/>
              </a:ext>
            </a:extLst>
          </p:cNvPr>
          <p:cNvSpPr>
            <a:spLocks noGrp="1"/>
          </p:cNvSpPr>
          <p:nvPr>
            <p:ph idx="1"/>
          </p:nvPr>
        </p:nvSpPr>
        <p:spPr/>
        <p:txBody>
          <a:bodyPr/>
          <a:lstStyle/>
          <a:p>
            <a:r>
              <a:rPr lang="en-US" sz="2000" dirty="0">
                <a:latin typeface="Times" panose="02020603050405020304" pitchFamily="18" charset="0"/>
                <a:cs typeface="Times" panose="02020603050405020304" pitchFamily="18" charset="0"/>
              </a:rPr>
              <a:t>The proposed system is a web-based NGO Management Software that provides:</a:t>
            </a:r>
          </a:p>
          <a:p>
            <a:r>
              <a:rPr lang="en-US" sz="2000" dirty="0">
                <a:latin typeface="Times" panose="02020603050405020304" pitchFamily="18" charset="0"/>
                <a:cs typeface="Times" panose="02020603050405020304" pitchFamily="18" charset="0"/>
              </a:rPr>
              <a:t>Centralized database management</a:t>
            </a:r>
          </a:p>
          <a:p>
            <a:r>
              <a:rPr lang="en-US" sz="2000" dirty="0">
                <a:latin typeface="Times" panose="02020603050405020304" pitchFamily="18" charset="0"/>
                <a:cs typeface="Times" panose="02020603050405020304" pitchFamily="18" charset="0"/>
              </a:rPr>
              <a:t>Secure login using JWT authentication</a:t>
            </a:r>
          </a:p>
          <a:p>
            <a:r>
              <a:rPr lang="en-US" sz="2000" dirty="0">
                <a:latin typeface="Times" panose="02020603050405020304" pitchFamily="18" charset="0"/>
                <a:cs typeface="Times" panose="02020603050405020304" pitchFamily="18" charset="0"/>
              </a:rPr>
              <a:t>Automated data handling</a:t>
            </a:r>
          </a:p>
          <a:p>
            <a:r>
              <a:rPr lang="en-US" sz="2000" dirty="0">
                <a:latin typeface="Times" panose="02020603050405020304" pitchFamily="18" charset="0"/>
                <a:cs typeface="Times" panose="02020603050405020304" pitchFamily="18" charset="0"/>
              </a:rPr>
              <a:t>Easy access and reporting</a:t>
            </a:r>
          </a:p>
          <a:p>
            <a:endParaRPr lang="en-US" sz="2000" dirty="0">
              <a:latin typeface="Times" panose="02020603050405020304" pitchFamily="18" charset="0"/>
              <a:cs typeface="Times" panose="02020603050405020304" pitchFamily="18" charset="0"/>
            </a:endParaRPr>
          </a:p>
          <a:p>
            <a:endParaRPr lang="en-US" sz="2000" dirty="0">
              <a:latin typeface="Times" panose="02020603050405020304" pitchFamily="18" charset="0"/>
              <a:cs typeface="Times" panose="02020603050405020304" pitchFamily="18" charset="0"/>
            </a:endParaRPr>
          </a:p>
        </p:txBody>
      </p:sp>
      <p:sp>
        <p:nvSpPr>
          <p:cNvPr id="5" name="Title 1">
            <a:extLst>
              <a:ext uri="{FF2B5EF4-FFF2-40B4-BE49-F238E27FC236}">
                <a16:creationId xmlns:a16="http://schemas.microsoft.com/office/drawing/2014/main" id="{292B1D8A-3315-D11C-D3BD-649D79548102}"/>
              </a:ext>
            </a:extLst>
          </p:cNvPr>
          <p:cNvSpPr txBox="1">
            <a:spLocks noGrp="1"/>
          </p:cNvSpPr>
          <p:nvPr>
            <p:ph type="title"/>
          </p:nvPr>
        </p:nvSpPr>
        <p:spPr>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3600" b="1" dirty="0">
                <a:latin typeface="Times New Roman" panose="02020603050405020304" pitchFamily="18" charset="0"/>
                <a:cs typeface="Times New Roman" panose="02020603050405020304" pitchFamily="18" charset="0"/>
              </a:rPr>
              <a:t>PROPOSED SYSTEM </a:t>
            </a:r>
            <a:endParaRPr lang="en-US" sz="3600" dirty="0"/>
          </a:p>
        </p:txBody>
      </p:sp>
      <p:sp>
        <p:nvSpPr>
          <p:cNvPr id="4" name="Footer Placeholder 3"/>
          <p:cNvSpPr>
            <a:spLocks noGrp="1"/>
          </p:cNvSpPr>
          <p:nvPr>
            <p:ph type="ftr" sz="quarter" idx="11"/>
          </p:nvPr>
        </p:nvSpPr>
        <p:spPr/>
        <p:txBody>
          <a:bodyPr/>
          <a:lstStyle/>
          <a:p>
            <a:r>
              <a:rPr lang="en-IN"/>
              <a:t>NGO MANAGEMENT SOFTWARE</a:t>
            </a:r>
          </a:p>
        </p:txBody>
      </p:sp>
      <p:sp>
        <p:nvSpPr>
          <p:cNvPr id="6" name="Slide Number Placeholder 5"/>
          <p:cNvSpPr>
            <a:spLocks noGrp="1"/>
          </p:cNvSpPr>
          <p:nvPr>
            <p:ph type="sldNum" sz="quarter" idx="12"/>
          </p:nvPr>
        </p:nvSpPr>
        <p:spPr/>
        <p:txBody>
          <a:bodyPr/>
          <a:lstStyle/>
          <a:p>
            <a:fld id="{EC723807-FF10-4730-B603-EA98888C76C4}" type="slidenum">
              <a:rPr lang="en-IN" smtClean="0"/>
              <a:t>8</a:t>
            </a:fld>
            <a:endParaRPr lang="en-IN"/>
          </a:p>
        </p:txBody>
      </p:sp>
    </p:spTree>
    <p:extLst>
      <p:ext uri="{BB962C8B-B14F-4D97-AF65-F5344CB8AC3E}">
        <p14:creationId xmlns:p14="http://schemas.microsoft.com/office/powerpoint/2010/main" val="3265922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742580D-3B0E-F23E-AC95-7EC8A662FEF6}"/>
              </a:ext>
            </a:extLst>
          </p:cNvPr>
          <p:cNvSpPr>
            <a:spLocks noGrp="1"/>
          </p:cNvSpPr>
          <p:nvPr>
            <p:ph idx="1"/>
          </p:nvPr>
        </p:nvSpPr>
        <p:spPr/>
        <p:txBody>
          <a:bodyPr/>
          <a:lstStyle/>
          <a:p>
            <a:r>
              <a:rPr lang="en-US" sz="2000" dirty="0">
                <a:latin typeface="Times New Roman" pitchFamily="18" charset="0"/>
                <a:cs typeface="Times New Roman" pitchFamily="18" charset="0"/>
              </a:rPr>
              <a:t>Centralized data management</a:t>
            </a:r>
          </a:p>
          <a:p>
            <a:r>
              <a:rPr lang="en-US" sz="2000" dirty="0">
                <a:latin typeface="Times New Roman" pitchFamily="18" charset="0"/>
                <a:cs typeface="Times New Roman" pitchFamily="18" charset="0"/>
              </a:rPr>
              <a:t>Reduced manual work and errors</a:t>
            </a:r>
          </a:p>
          <a:p>
            <a:r>
              <a:rPr lang="en-US" sz="2000" dirty="0">
                <a:latin typeface="Times New Roman" pitchFamily="18" charset="0"/>
                <a:cs typeface="Times New Roman" pitchFamily="18" charset="0"/>
              </a:rPr>
              <a:t>Improved transparency and accountability</a:t>
            </a:r>
          </a:p>
          <a:p>
            <a:r>
              <a:rPr lang="en-US" sz="2000" dirty="0">
                <a:latin typeface="Times New Roman" pitchFamily="18" charset="0"/>
                <a:cs typeface="Times New Roman" pitchFamily="18" charset="0"/>
              </a:rPr>
              <a:t>Faster report generation</a:t>
            </a:r>
          </a:p>
          <a:p>
            <a:r>
              <a:rPr lang="en-US" sz="2000" dirty="0">
                <a:latin typeface="Times New Roman" pitchFamily="18" charset="0"/>
                <a:cs typeface="Times New Roman" pitchFamily="18" charset="0"/>
              </a:rPr>
              <a:t>Secure data storage and access control</a:t>
            </a:r>
          </a:p>
          <a:p>
            <a:r>
              <a:rPr lang="en-US" sz="2000" dirty="0">
                <a:latin typeface="Times New Roman" pitchFamily="18" charset="0"/>
                <a:cs typeface="Times New Roman" pitchFamily="18" charset="0"/>
              </a:rPr>
              <a:t>User-friendly interface</a:t>
            </a:r>
          </a:p>
          <a:p>
            <a:r>
              <a:rPr lang="en-US" sz="2000" dirty="0">
                <a:latin typeface="Times New Roman" pitchFamily="18" charset="0"/>
                <a:cs typeface="Times New Roman" pitchFamily="18" charset="0"/>
              </a:rPr>
              <a:t>Better decision-making support</a:t>
            </a:r>
            <a:endParaRPr lang="en-US" sz="2000" dirty="0"/>
          </a:p>
        </p:txBody>
      </p:sp>
      <p:sp>
        <p:nvSpPr>
          <p:cNvPr id="5" name="Title 1">
            <a:extLst>
              <a:ext uri="{FF2B5EF4-FFF2-40B4-BE49-F238E27FC236}">
                <a16:creationId xmlns:a16="http://schemas.microsoft.com/office/drawing/2014/main" id="{7A8E2344-0392-9E09-DE60-E4876E17C02A}"/>
              </a:ext>
            </a:extLst>
          </p:cNvPr>
          <p:cNvSpPr txBox="1">
            <a:spLocks noGrp="1"/>
          </p:cNvSpPr>
          <p:nvPr>
            <p:ph type="title"/>
          </p:nvPr>
        </p:nvSpPr>
        <p:spPr>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3600" b="1" dirty="0">
                <a:latin typeface="Times New Roman" panose="02020603050405020304" pitchFamily="18" charset="0"/>
                <a:cs typeface="Times New Roman" panose="02020603050405020304" pitchFamily="18" charset="0"/>
              </a:rPr>
              <a:t>ADVANTAGES OF PROPOSED SYSTEM </a:t>
            </a:r>
            <a:endParaRPr lang="en-US" sz="3600" dirty="0"/>
          </a:p>
        </p:txBody>
      </p:sp>
      <p:sp>
        <p:nvSpPr>
          <p:cNvPr id="4" name="Footer Placeholder 3"/>
          <p:cNvSpPr>
            <a:spLocks noGrp="1"/>
          </p:cNvSpPr>
          <p:nvPr>
            <p:ph type="ftr" sz="quarter" idx="11"/>
          </p:nvPr>
        </p:nvSpPr>
        <p:spPr/>
        <p:txBody>
          <a:bodyPr/>
          <a:lstStyle/>
          <a:p>
            <a:r>
              <a:rPr lang="en-IN"/>
              <a:t>NGO MANAGEMENT SOFTWARE</a:t>
            </a:r>
          </a:p>
        </p:txBody>
      </p:sp>
      <p:sp>
        <p:nvSpPr>
          <p:cNvPr id="6" name="Slide Number Placeholder 5"/>
          <p:cNvSpPr>
            <a:spLocks noGrp="1"/>
          </p:cNvSpPr>
          <p:nvPr>
            <p:ph type="sldNum" sz="quarter" idx="12"/>
          </p:nvPr>
        </p:nvSpPr>
        <p:spPr/>
        <p:txBody>
          <a:bodyPr/>
          <a:lstStyle/>
          <a:p>
            <a:fld id="{EC723807-FF10-4730-B603-EA98888C76C4}" type="slidenum">
              <a:rPr lang="en-IN" smtClean="0"/>
              <a:t>9</a:t>
            </a:fld>
            <a:endParaRPr lang="en-IN"/>
          </a:p>
        </p:txBody>
      </p:sp>
    </p:spTree>
    <p:extLst>
      <p:ext uri="{BB962C8B-B14F-4D97-AF65-F5344CB8AC3E}">
        <p14:creationId xmlns:p14="http://schemas.microsoft.com/office/powerpoint/2010/main" val="39821791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326BC7-0C77-40A6-B73A-CF4CA2685E2E}"/>
              </a:ext>
            </a:extLst>
          </p:cNvPr>
          <p:cNvSpPr>
            <a:spLocks noGrp="1"/>
          </p:cNvSpPr>
          <p:nvPr>
            <p:ph type="title"/>
          </p:nvPr>
        </p:nvSpPr>
        <p:spPr>
          <a:xfrm>
            <a:off x="838200" y="365126"/>
            <a:ext cx="10515600" cy="719604"/>
          </a:xfrm>
        </p:spPr>
        <p:txBody>
          <a:bodyPr>
            <a:normAutofit/>
          </a:bodyPr>
          <a:lstStyle/>
          <a:p>
            <a:pPr algn="ctr"/>
            <a:r>
              <a:rPr lang="en-IN" sz="3600" b="1" dirty="0">
                <a:solidFill>
                  <a:prstClr val="black"/>
                </a:solidFill>
                <a:latin typeface="Times New Roman" pitchFamily="18" charset="0"/>
                <a:cs typeface="Times New Roman" pitchFamily="18" charset="0"/>
              </a:rPr>
              <a:t>HARDWARE</a:t>
            </a:r>
            <a:r>
              <a:rPr lang="en-US" sz="3600" b="1" dirty="0">
                <a:solidFill>
                  <a:prstClr val="black"/>
                </a:solidFill>
                <a:latin typeface="Times New Roman" pitchFamily="18" charset="0"/>
                <a:cs typeface="Times New Roman" pitchFamily="18" charset="0"/>
              </a:rPr>
              <a:t> SPECIFICATION</a:t>
            </a:r>
            <a:endParaRPr lang="en-IN"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E744A48-6C41-41D7-AC1E-61BF4729E52B}"/>
              </a:ext>
            </a:extLst>
          </p:cNvPr>
          <p:cNvSpPr>
            <a:spLocks noGrp="1"/>
          </p:cNvSpPr>
          <p:nvPr>
            <p:ph idx="1"/>
          </p:nvPr>
        </p:nvSpPr>
        <p:spPr>
          <a:xfrm flipV="1">
            <a:off x="3330061" y="6242435"/>
            <a:ext cx="4540446" cy="130766"/>
          </a:xfrm>
        </p:spPr>
        <p:txBody>
          <a:bodyPr>
            <a:noAutofit/>
          </a:bodyPr>
          <a:lstStyle/>
          <a:p>
            <a:pPr algn="just">
              <a:spcBef>
                <a:spcPts val="600"/>
              </a:spcBef>
              <a:spcAft>
                <a:spcPts val="600"/>
              </a:spcAft>
              <a:defRPr/>
            </a:pPr>
            <a:r>
              <a:rPr lang="en-US" sz="2400" dirty="0">
                <a:latin typeface="Times New Roman" panose="02020603050405020304" pitchFamily="18" charset="0"/>
                <a:cs typeface="Times New Roman" panose="02020603050405020304" pitchFamily="18" charset="0"/>
              </a:rPr>
              <a:t>	                       	   </a:t>
            </a:r>
          </a:p>
          <a:p>
            <a:pPr marL="0" indent="0">
              <a:buNone/>
              <a:defRPr/>
            </a:pPr>
            <a:endParaRPr lang="en-US" sz="2400" dirty="0">
              <a:latin typeface="Times New Roman" panose="02020603050405020304" pitchFamily="18" charset="0"/>
              <a:cs typeface="Times New Roman" panose="02020603050405020304" pitchFamily="18" charset="0"/>
            </a:endParaRPr>
          </a:p>
          <a:p>
            <a:pPr marL="0" indent="0" algn="just">
              <a:lnSpc>
                <a:spcPct val="100000"/>
              </a:lnSpc>
              <a:buNone/>
            </a:pPr>
            <a:endParaRPr lang="en-US" sz="2400" dirty="0">
              <a:latin typeface="Times New Roman" panose="02020603050405020304" pitchFamily="18" charset="0"/>
              <a:cs typeface="Times New Roman" panose="02020603050405020304" pitchFamily="18" charset="0"/>
            </a:endParaRPr>
          </a:p>
        </p:txBody>
      </p:sp>
      <p:sp>
        <p:nvSpPr>
          <p:cNvPr id="5" name="Footer Placeholder 4"/>
          <p:cNvSpPr>
            <a:spLocks noGrp="1"/>
          </p:cNvSpPr>
          <p:nvPr>
            <p:ph type="ftr" sz="quarter" idx="11"/>
          </p:nvPr>
        </p:nvSpPr>
        <p:spPr/>
        <p:txBody>
          <a:bodyPr/>
          <a:lstStyle/>
          <a:p>
            <a:r>
              <a:rPr lang="en-IN"/>
              <a:t>NGO MANAGEMENT SOFTWARE</a:t>
            </a:r>
          </a:p>
        </p:txBody>
      </p:sp>
      <p:sp>
        <p:nvSpPr>
          <p:cNvPr id="6" name="Slide Number Placeholder 5"/>
          <p:cNvSpPr>
            <a:spLocks noGrp="1"/>
          </p:cNvSpPr>
          <p:nvPr>
            <p:ph type="sldNum" sz="quarter" idx="12"/>
          </p:nvPr>
        </p:nvSpPr>
        <p:spPr/>
        <p:txBody>
          <a:bodyPr/>
          <a:lstStyle/>
          <a:p>
            <a:fld id="{EC723807-FF10-4730-B603-EA98888C76C4}" type="slidenum">
              <a:rPr lang="en-IN" smtClean="0"/>
              <a:t>10</a:t>
            </a:fld>
            <a:endParaRPr lang="en-IN"/>
          </a:p>
        </p:txBody>
      </p:sp>
      <p:sp>
        <p:nvSpPr>
          <p:cNvPr id="9" name="Rectangle 3">
            <a:extLst>
              <a:ext uri="{FF2B5EF4-FFF2-40B4-BE49-F238E27FC236}">
                <a16:creationId xmlns:a16="http://schemas.microsoft.com/office/drawing/2014/main" id="{F87FB5D0-3F53-250E-4DF8-61403D2536C8}"/>
              </a:ext>
            </a:extLst>
          </p:cNvPr>
          <p:cNvSpPr>
            <a:spLocks noChangeArrowheads="1"/>
          </p:cNvSpPr>
          <p:nvPr/>
        </p:nvSpPr>
        <p:spPr bwMode="auto">
          <a:xfrm>
            <a:off x="2889114" y="1504893"/>
            <a:ext cx="5264285" cy="2460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panose="02020603050405020304" pitchFamily="18" charset="0"/>
                <a:cs typeface="Times" panose="02020603050405020304" pitchFamily="18" charset="0"/>
              </a:rPr>
              <a:t>Processor: Intel i5 or above</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panose="02020603050405020304" pitchFamily="18" charset="0"/>
                <a:cs typeface="Times" panose="02020603050405020304" pitchFamily="18" charset="0"/>
              </a:rPr>
              <a:t>RAM: 8 GB minimum</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panose="02020603050405020304" pitchFamily="18" charset="0"/>
                <a:cs typeface="Times" panose="02020603050405020304" pitchFamily="18" charset="0"/>
              </a:rPr>
              <a:t>Hard Disk: 256 GB</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panose="02020603050405020304" pitchFamily="18" charset="0"/>
                <a:cs typeface="Times" panose="02020603050405020304" pitchFamily="18" charset="0"/>
              </a:rPr>
              <a:t>System Type: 64-bit</a:t>
            </a:r>
          </a:p>
        </p:txBody>
      </p:sp>
    </p:spTree>
    <p:extLst>
      <p:ext uri="{BB962C8B-B14F-4D97-AF65-F5344CB8AC3E}">
        <p14:creationId xmlns:p14="http://schemas.microsoft.com/office/powerpoint/2010/main" val="4069143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65F04-3210-4FEE-9F15-E4CF0E1BF638}"/>
              </a:ext>
            </a:extLst>
          </p:cNvPr>
          <p:cNvSpPr>
            <a:spLocks noGrp="1"/>
          </p:cNvSpPr>
          <p:nvPr>
            <p:ph type="title"/>
          </p:nvPr>
        </p:nvSpPr>
        <p:spPr/>
        <p:txBody>
          <a:bodyPr>
            <a:noAutofit/>
          </a:bodyPr>
          <a:lstStyle/>
          <a:p>
            <a:pPr algn="ctr"/>
            <a:br>
              <a:rPr lang="en-US" sz="3600" b="1" dirty="0">
                <a:solidFill>
                  <a:prstClr val="black"/>
                </a:solidFill>
                <a:latin typeface="Times New Roman" pitchFamily="18" charset="0"/>
                <a:cs typeface="Times New Roman" pitchFamily="18" charset="0"/>
              </a:rPr>
            </a:br>
            <a:r>
              <a:rPr lang="en-US" sz="3600" b="1" dirty="0">
                <a:solidFill>
                  <a:prstClr val="black"/>
                </a:solidFill>
                <a:latin typeface="Times New Roman" pitchFamily="18" charset="0"/>
                <a:cs typeface="Times New Roman" pitchFamily="18" charset="0"/>
              </a:rPr>
              <a:t>SOFTWARE SPECIFICATION</a:t>
            </a:r>
            <a:br>
              <a:rPr lang="en-US" sz="3600" b="1" dirty="0">
                <a:solidFill>
                  <a:prstClr val="black"/>
                </a:solidFill>
                <a:latin typeface="Times New Roman" pitchFamily="18" charset="0"/>
                <a:cs typeface="Times New Roman" pitchFamily="18" charset="0"/>
              </a:rPr>
            </a:br>
            <a:endParaRPr lang="en-IN" sz="3600" dirty="0"/>
          </a:p>
        </p:txBody>
      </p:sp>
      <p:sp>
        <p:nvSpPr>
          <p:cNvPr id="3" name="Content Placeholder 2">
            <a:extLst>
              <a:ext uri="{FF2B5EF4-FFF2-40B4-BE49-F238E27FC236}">
                <a16:creationId xmlns:a16="http://schemas.microsoft.com/office/drawing/2014/main" id="{D39349F0-3D2B-4E2A-837D-072413513FF7}"/>
              </a:ext>
            </a:extLst>
          </p:cNvPr>
          <p:cNvSpPr>
            <a:spLocks noGrp="1"/>
          </p:cNvSpPr>
          <p:nvPr>
            <p:ph idx="1"/>
          </p:nvPr>
        </p:nvSpPr>
        <p:spPr/>
        <p:txBody>
          <a:bodyPr>
            <a:normAutofit/>
          </a:bodyPr>
          <a:lstStyle/>
          <a:p>
            <a:pPr>
              <a:defRPr/>
            </a:pPr>
            <a:endParaRPr lang="en-US" sz="2400" dirty="0">
              <a:latin typeface="Times New Roman" panose="02020603050405020304" pitchFamily="18" charset="0"/>
              <a:cs typeface="Times New Roman" panose="02020603050405020304" pitchFamily="18" charset="0"/>
            </a:endParaRPr>
          </a:p>
          <a:p>
            <a:pPr marL="0" indent="0">
              <a:buNone/>
            </a:pPr>
            <a:endParaRPr lang="en-IN" sz="2400" dirty="0"/>
          </a:p>
        </p:txBody>
      </p:sp>
      <p:sp>
        <p:nvSpPr>
          <p:cNvPr id="5" name="Footer Placeholder 4"/>
          <p:cNvSpPr>
            <a:spLocks noGrp="1"/>
          </p:cNvSpPr>
          <p:nvPr>
            <p:ph type="ftr" sz="quarter" idx="11"/>
          </p:nvPr>
        </p:nvSpPr>
        <p:spPr/>
        <p:txBody>
          <a:bodyPr/>
          <a:lstStyle/>
          <a:p>
            <a:r>
              <a:rPr lang="en-IN"/>
              <a:t>NGO MANAGEMENT SOFTWARE</a:t>
            </a:r>
          </a:p>
        </p:txBody>
      </p:sp>
      <p:sp>
        <p:nvSpPr>
          <p:cNvPr id="6" name="Slide Number Placeholder 5"/>
          <p:cNvSpPr>
            <a:spLocks noGrp="1"/>
          </p:cNvSpPr>
          <p:nvPr>
            <p:ph type="sldNum" sz="quarter" idx="12"/>
          </p:nvPr>
        </p:nvSpPr>
        <p:spPr/>
        <p:txBody>
          <a:bodyPr/>
          <a:lstStyle/>
          <a:p>
            <a:fld id="{EC723807-FF10-4730-B603-EA98888C76C4}" type="slidenum">
              <a:rPr lang="en-IN" smtClean="0"/>
              <a:t>11</a:t>
            </a:fld>
            <a:endParaRPr lang="en-IN"/>
          </a:p>
        </p:txBody>
      </p:sp>
      <p:sp>
        <p:nvSpPr>
          <p:cNvPr id="7" name="Content Placeholder 2">
            <a:extLst>
              <a:ext uri="{FF2B5EF4-FFF2-40B4-BE49-F238E27FC236}">
                <a16:creationId xmlns:a16="http://schemas.microsoft.com/office/drawing/2014/main" id="{1E744A48-6C41-41D7-AC1E-61BF4729E52B}"/>
              </a:ext>
            </a:extLst>
          </p:cNvPr>
          <p:cNvSpPr txBox="1">
            <a:spLocks/>
          </p:cNvSpPr>
          <p:nvPr/>
        </p:nvSpPr>
        <p:spPr>
          <a:xfrm flipV="1">
            <a:off x="3388792" y="5667195"/>
            <a:ext cx="4136321" cy="70723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spcBef>
                <a:spcPts val="600"/>
              </a:spcBef>
              <a:spcAft>
                <a:spcPts val="600"/>
              </a:spcAft>
              <a:buNone/>
              <a:defRPr/>
            </a:pPr>
            <a:r>
              <a:rPr lang="en-US" dirty="0">
                <a:latin typeface="Times New Roman" panose="02020603050405020304" pitchFamily="18" charset="0"/>
                <a:cs typeface="Times New Roman" panose="02020603050405020304" pitchFamily="18" charset="0"/>
              </a:rPr>
              <a:t>	                       	   </a:t>
            </a:r>
          </a:p>
          <a:p>
            <a:pPr marL="0" indent="0">
              <a:buFont typeface="Arial" panose="020B0604020202020204" pitchFamily="34" charset="0"/>
              <a:buNone/>
              <a:defRPr/>
            </a:pPr>
            <a:endParaRPr lang="en-US" sz="2400" dirty="0">
              <a:latin typeface="Times New Roman" panose="02020603050405020304" pitchFamily="18" charset="0"/>
              <a:cs typeface="Times New Roman" panose="02020603050405020304" pitchFamily="18" charset="0"/>
            </a:endParaRPr>
          </a:p>
          <a:p>
            <a:pPr marL="0" indent="0" algn="just">
              <a:lnSpc>
                <a:spcPct val="100000"/>
              </a:lnSpc>
              <a:buFont typeface="Arial" panose="020B0604020202020204" pitchFamily="34" charset="0"/>
              <a:buNone/>
            </a:pPr>
            <a:endParaRPr lang="en-US" sz="2400" dirty="0">
              <a:latin typeface="Times New Roman" panose="02020603050405020304" pitchFamily="18" charset="0"/>
              <a:cs typeface="Times New Roman" panose="02020603050405020304" pitchFamily="18" charset="0"/>
            </a:endParaRPr>
          </a:p>
        </p:txBody>
      </p:sp>
      <p:sp>
        <p:nvSpPr>
          <p:cNvPr id="10" name="Rectangle 3">
            <a:extLst>
              <a:ext uri="{FF2B5EF4-FFF2-40B4-BE49-F238E27FC236}">
                <a16:creationId xmlns:a16="http://schemas.microsoft.com/office/drawing/2014/main" id="{31C7ABA2-E1D6-6C9E-DFC5-FBDE9179E71E}"/>
              </a:ext>
            </a:extLst>
          </p:cNvPr>
          <p:cNvSpPr>
            <a:spLocks noChangeArrowheads="1"/>
          </p:cNvSpPr>
          <p:nvPr/>
        </p:nvSpPr>
        <p:spPr bwMode="auto">
          <a:xfrm>
            <a:off x="2957209" y="1521955"/>
            <a:ext cx="4795736" cy="3076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panose="02020603050405020304" pitchFamily="18" charset="0"/>
                <a:cs typeface="Times" panose="02020603050405020304" pitchFamily="18" charset="0"/>
              </a:rPr>
              <a:t>Operating System: Windows / Linux</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panose="02020603050405020304" pitchFamily="18" charset="0"/>
                <a:cs typeface="Times" panose="02020603050405020304" pitchFamily="18" charset="0"/>
              </a:rPr>
              <a:t>Backend: Python Flask</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panose="02020603050405020304" pitchFamily="18" charset="0"/>
                <a:cs typeface="Times" panose="02020603050405020304" pitchFamily="18" charset="0"/>
              </a:rPr>
              <a:t>Frontend: Vue.js 3</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panose="02020603050405020304" pitchFamily="18" charset="0"/>
                <a:cs typeface="Times" panose="02020603050405020304" pitchFamily="18" charset="0"/>
              </a:rPr>
              <a:t>Database: MySQL</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panose="02020603050405020304" pitchFamily="18" charset="0"/>
                <a:cs typeface="Times" panose="02020603050405020304" pitchFamily="18" charset="0"/>
              </a:rPr>
              <a:t>Tools: VS Code, Git, Browser</a:t>
            </a:r>
          </a:p>
        </p:txBody>
      </p:sp>
    </p:spTree>
    <p:extLst>
      <p:ext uri="{BB962C8B-B14F-4D97-AF65-F5344CB8AC3E}">
        <p14:creationId xmlns:p14="http://schemas.microsoft.com/office/powerpoint/2010/main" val="2447494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3600" b="1" dirty="0">
                <a:solidFill>
                  <a:prstClr val="black"/>
                </a:solidFill>
                <a:latin typeface="Times New Roman" pitchFamily="18" charset="0"/>
                <a:cs typeface="Times New Roman" pitchFamily="18" charset="0"/>
              </a:rPr>
              <a:t>TIME LINE CHART</a:t>
            </a:r>
            <a:endParaRPr lang="en-US" sz="3600" b="1" dirty="0">
              <a:solidFill>
                <a:prstClr val="black"/>
              </a:solidFill>
              <a:latin typeface="Times New Roman" pitchFamily="18" charset="0"/>
              <a:cs typeface="Times New Roman" pitchFamily="18" charset="0"/>
            </a:endParaRPr>
          </a:p>
        </p:txBody>
      </p:sp>
      <p:sp>
        <p:nvSpPr>
          <p:cNvPr id="5" name="Footer Placeholder 4"/>
          <p:cNvSpPr>
            <a:spLocks noGrp="1"/>
          </p:cNvSpPr>
          <p:nvPr>
            <p:ph type="ftr" sz="quarter" idx="11"/>
          </p:nvPr>
        </p:nvSpPr>
        <p:spPr/>
        <p:txBody>
          <a:bodyPr/>
          <a:lstStyle/>
          <a:p>
            <a:r>
              <a:rPr lang="en-IN"/>
              <a:t>NGO MANAGEMENT SOFTWARE</a:t>
            </a:r>
          </a:p>
        </p:txBody>
      </p:sp>
      <p:sp>
        <p:nvSpPr>
          <p:cNvPr id="6" name="Slide Number Placeholder 5"/>
          <p:cNvSpPr>
            <a:spLocks noGrp="1"/>
          </p:cNvSpPr>
          <p:nvPr>
            <p:ph type="sldNum" sz="quarter" idx="12"/>
          </p:nvPr>
        </p:nvSpPr>
        <p:spPr/>
        <p:txBody>
          <a:bodyPr/>
          <a:lstStyle/>
          <a:p>
            <a:fld id="{EC723807-FF10-4730-B603-EA98888C76C4}" type="slidenum">
              <a:rPr lang="en-IN" smtClean="0"/>
              <a:t>12</a:t>
            </a:fld>
            <a:endParaRPr lang="en-IN"/>
          </a:p>
        </p:txBody>
      </p:sp>
      <p:pic>
        <p:nvPicPr>
          <p:cNvPr id="12" name="Content Placeholder 11">
            <a:extLst>
              <a:ext uri="{FF2B5EF4-FFF2-40B4-BE49-F238E27FC236}">
                <a16:creationId xmlns:a16="http://schemas.microsoft.com/office/drawing/2014/main" id="{FFE8E2AD-7023-D1E3-5263-CDC382D39D59}"/>
              </a:ext>
            </a:extLst>
          </p:cNvPr>
          <p:cNvPicPr>
            <a:picLocks noGrp="1" noChangeAspect="1"/>
          </p:cNvPicPr>
          <p:nvPr>
            <p:ph idx="1"/>
          </p:nvPr>
        </p:nvPicPr>
        <p:blipFill>
          <a:blip r:embed="rId2"/>
          <a:srcRect t="15498"/>
          <a:stretch>
            <a:fillRect/>
          </a:stretch>
        </p:blipFill>
        <p:spPr>
          <a:xfrm>
            <a:off x="2316804" y="1742922"/>
            <a:ext cx="7558391" cy="3676955"/>
          </a:xfrm>
          <a:prstGeom prst="rect">
            <a:avLst/>
          </a:prstGeom>
        </p:spPr>
      </p:pic>
      <p:sp>
        <p:nvSpPr>
          <p:cNvPr id="11" name="AutoShape 4" descr="Generated image">
            <a:extLst>
              <a:ext uri="{FF2B5EF4-FFF2-40B4-BE49-F238E27FC236}">
                <a16:creationId xmlns:a16="http://schemas.microsoft.com/office/drawing/2014/main" id="{0B3C25B7-A396-CAF1-2CDD-819B25F5C0C9}"/>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1053492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038470"/>
          </a:xfrm>
        </p:spPr>
        <p:txBody>
          <a:bodyPr>
            <a:normAutofit/>
          </a:bodyPr>
          <a:lstStyle/>
          <a:p>
            <a:pPr algn="ctr"/>
            <a:r>
              <a:rPr lang="en-IN" sz="3600" b="1" dirty="0">
                <a:solidFill>
                  <a:prstClr val="black"/>
                </a:solidFill>
                <a:latin typeface="Times New Roman" pitchFamily="18" charset="0"/>
                <a:cs typeface="Times New Roman" pitchFamily="18" charset="0"/>
              </a:rPr>
              <a:t>SYSTEM DESIGN</a:t>
            </a:r>
            <a:endParaRPr lang="en-US" sz="3600" b="1" dirty="0">
              <a:solidFill>
                <a:prstClr val="black"/>
              </a:solidFill>
              <a:latin typeface="Times New Roman" pitchFamily="18" charset="0"/>
              <a:cs typeface="Times New Roman" pitchFamily="18" charset="0"/>
            </a:endParaRPr>
          </a:p>
        </p:txBody>
      </p:sp>
      <p:sp>
        <p:nvSpPr>
          <p:cNvPr id="3" name="Content Placeholder 2"/>
          <p:cNvSpPr>
            <a:spLocks noGrp="1"/>
          </p:cNvSpPr>
          <p:nvPr>
            <p:ph idx="1"/>
          </p:nvPr>
        </p:nvSpPr>
        <p:spPr>
          <a:xfrm>
            <a:off x="231820" y="1262131"/>
            <a:ext cx="11565228" cy="5112912"/>
          </a:xfrm>
        </p:spPr>
        <p:txBody>
          <a:bodyPr/>
          <a:lstStyle/>
          <a:p>
            <a:pPr marL="0" indent="0">
              <a:buNone/>
            </a:pPr>
            <a:r>
              <a:rPr lang="en-US" sz="2000" dirty="0">
                <a:latin typeface="Times" panose="02020603050405020304" pitchFamily="18" charset="0"/>
                <a:cs typeface="Times" panose="02020603050405020304" pitchFamily="18" charset="0"/>
              </a:rPr>
              <a:t>System Architecture diagram of NGO Software</a:t>
            </a:r>
          </a:p>
          <a:p>
            <a:pPr marL="0" indent="0">
              <a:buNone/>
            </a:pPr>
            <a:endParaRPr lang="en-US" dirty="0"/>
          </a:p>
          <a:p>
            <a:pPr marL="0" indent="0">
              <a:buNone/>
            </a:pPr>
            <a:r>
              <a:rPr lang="en-US" dirty="0"/>
              <a:t> </a:t>
            </a:r>
          </a:p>
          <a:p>
            <a:pPr marL="0" indent="0">
              <a:buNone/>
            </a:pPr>
            <a:endParaRPr lang="en-US" dirty="0"/>
          </a:p>
        </p:txBody>
      </p:sp>
      <p:sp>
        <p:nvSpPr>
          <p:cNvPr id="5" name="Footer Placeholder 4"/>
          <p:cNvSpPr>
            <a:spLocks noGrp="1"/>
          </p:cNvSpPr>
          <p:nvPr>
            <p:ph type="ftr" sz="quarter" idx="11"/>
          </p:nvPr>
        </p:nvSpPr>
        <p:spPr/>
        <p:txBody>
          <a:bodyPr/>
          <a:lstStyle/>
          <a:p>
            <a:r>
              <a:rPr lang="en-IN"/>
              <a:t>NGO MANAGEMENT SOFTWARE</a:t>
            </a:r>
          </a:p>
        </p:txBody>
      </p:sp>
      <p:sp>
        <p:nvSpPr>
          <p:cNvPr id="6" name="Slide Number Placeholder 5"/>
          <p:cNvSpPr>
            <a:spLocks noGrp="1"/>
          </p:cNvSpPr>
          <p:nvPr>
            <p:ph type="sldNum" sz="quarter" idx="12"/>
          </p:nvPr>
        </p:nvSpPr>
        <p:spPr/>
        <p:txBody>
          <a:bodyPr/>
          <a:lstStyle/>
          <a:p>
            <a:fld id="{EC723807-FF10-4730-B603-EA98888C76C4}" type="slidenum">
              <a:rPr lang="en-IN" smtClean="0"/>
              <a:t>13</a:t>
            </a:fld>
            <a:endParaRPr lang="en-IN"/>
          </a:p>
        </p:txBody>
      </p:sp>
      <p:pic>
        <p:nvPicPr>
          <p:cNvPr id="6146" name="Picture 2" descr="PlantUML diagram">
            <a:extLst>
              <a:ext uri="{FF2B5EF4-FFF2-40B4-BE49-F238E27FC236}">
                <a16:creationId xmlns:a16="http://schemas.microsoft.com/office/drawing/2014/main" id="{F5B7D6AB-9A20-70F9-D1EE-24C86323A6E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4804"/>
          <a:stretch>
            <a:fillRect/>
          </a:stretch>
        </p:blipFill>
        <p:spPr bwMode="auto">
          <a:xfrm>
            <a:off x="2616740" y="1799620"/>
            <a:ext cx="6225703" cy="44340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48665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74278"/>
          </a:xfrm>
        </p:spPr>
        <p:txBody>
          <a:bodyPr>
            <a:normAutofit/>
          </a:bodyPr>
          <a:lstStyle/>
          <a:p>
            <a:pPr algn="ctr"/>
            <a:r>
              <a:rPr lang="en-IN" sz="3600" b="1" dirty="0">
                <a:solidFill>
                  <a:prstClr val="black"/>
                </a:solidFill>
                <a:latin typeface="Times New Roman" pitchFamily="18" charset="0"/>
                <a:cs typeface="Times New Roman" pitchFamily="18" charset="0"/>
              </a:rPr>
              <a:t>SYSTEM DESIGN</a:t>
            </a:r>
            <a:endParaRPr lang="en-US" sz="3600" b="1" dirty="0">
              <a:solidFill>
                <a:prstClr val="black"/>
              </a:solidFill>
              <a:latin typeface="Times New Roman" pitchFamily="18" charset="0"/>
              <a:cs typeface="Times New Roman" pitchFamily="18" charset="0"/>
            </a:endParaRPr>
          </a:p>
        </p:txBody>
      </p:sp>
      <p:sp>
        <p:nvSpPr>
          <p:cNvPr id="5" name="Footer Placeholder 4"/>
          <p:cNvSpPr>
            <a:spLocks noGrp="1"/>
          </p:cNvSpPr>
          <p:nvPr>
            <p:ph type="ftr" sz="quarter" idx="11"/>
          </p:nvPr>
        </p:nvSpPr>
        <p:spPr/>
        <p:txBody>
          <a:bodyPr/>
          <a:lstStyle/>
          <a:p>
            <a:r>
              <a:rPr lang="en-IN"/>
              <a:t>NGO MANAGEMENT SOFTWARE</a:t>
            </a:r>
          </a:p>
        </p:txBody>
      </p:sp>
      <p:sp>
        <p:nvSpPr>
          <p:cNvPr id="6" name="Slide Number Placeholder 5"/>
          <p:cNvSpPr>
            <a:spLocks noGrp="1"/>
          </p:cNvSpPr>
          <p:nvPr>
            <p:ph type="sldNum" sz="quarter" idx="12"/>
          </p:nvPr>
        </p:nvSpPr>
        <p:spPr/>
        <p:txBody>
          <a:bodyPr/>
          <a:lstStyle/>
          <a:p>
            <a:fld id="{EC723807-FF10-4730-B603-EA98888C76C4}" type="slidenum">
              <a:rPr lang="en-IN" smtClean="0"/>
              <a:t>14</a:t>
            </a:fld>
            <a:endParaRPr lang="en-IN"/>
          </a:p>
        </p:txBody>
      </p:sp>
      <p:sp>
        <p:nvSpPr>
          <p:cNvPr id="7" name="Content Placeholder 2"/>
          <p:cNvSpPr txBox="1">
            <a:spLocks/>
          </p:cNvSpPr>
          <p:nvPr/>
        </p:nvSpPr>
        <p:spPr>
          <a:xfrm>
            <a:off x="656823" y="1230840"/>
            <a:ext cx="10805374" cy="459744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latin typeface="Times" panose="02020603050405020304" pitchFamily="18" charset="0"/>
                <a:cs typeface="Times" panose="02020603050405020304" pitchFamily="18" charset="0"/>
              </a:rPr>
              <a:t>Use case diagram of NGO Software </a:t>
            </a:r>
          </a:p>
          <a:p>
            <a:endParaRPr lang="en-US" dirty="0"/>
          </a:p>
        </p:txBody>
      </p:sp>
      <p:pic>
        <p:nvPicPr>
          <p:cNvPr id="7170" name="Picture 2" descr="PlantUML diagram">
            <a:extLst>
              <a:ext uri="{FF2B5EF4-FFF2-40B4-BE49-F238E27FC236}">
                <a16:creationId xmlns:a16="http://schemas.microsoft.com/office/drawing/2014/main" id="{6185DD7A-DA8E-0BEB-7454-259FA27BD0A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2629"/>
          <a:stretch>
            <a:fillRect/>
          </a:stretch>
        </p:blipFill>
        <p:spPr bwMode="auto">
          <a:xfrm>
            <a:off x="1089498" y="2013626"/>
            <a:ext cx="10107038" cy="32976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69743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3600" b="1" dirty="0">
                <a:solidFill>
                  <a:prstClr val="black"/>
                </a:solidFill>
                <a:latin typeface="Times New Roman" pitchFamily="18" charset="0"/>
                <a:cs typeface="Times New Roman" pitchFamily="18" charset="0"/>
              </a:rPr>
              <a:t>DATABASE DESIGN</a:t>
            </a:r>
            <a:endParaRPr lang="en-US" sz="3600" b="1" dirty="0">
              <a:solidFill>
                <a:prstClr val="black"/>
              </a:solidFill>
              <a:latin typeface="Times New Roman" pitchFamily="18" charset="0"/>
              <a:cs typeface="Times New Roman" pitchFamily="18" charset="0"/>
            </a:endParaRPr>
          </a:p>
        </p:txBody>
      </p:sp>
      <p:sp>
        <p:nvSpPr>
          <p:cNvPr id="5" name="Footer Placeholder 4"/>
          <p:cNvSpPr>
            <a:spLocks noGrp="1"/>
          </p:cNvSpPr>
          <p:nvPr>
            <p:ph type="ftr" sz="quarter" idx="11"/>
          </p:nvPr>
        </p:nvSpPr>
        <p:spPr/>
        <p:txBody>
          <a:bodyPr/>
          <a:lstStyle/>
          <a:p>
            <a:r>
              <a:rPr lang="en-IN"/>
              <a:t>NGO MANAGEMENT SOFTWARE</a:t>
            </a:r>
          </a:p>
        </p:txBody>
      </p:sp>
      <p:sp>
        <p:nvSpPr>
          <p:cNvPr id="6" name="Slide Number Placeholder 5"/>
          <p:cNvSpPr>
            <a:spLocks noGrp="1"/>
          </p:cNvSpPr>
          <p:nvPr>
            <p:ph type="sldNum" sz="quarter" idx="12"/>
          </p:nvPr>
        </p:nvSpPr>
        <p:spPr/>
        <p:txBody>
          <a:bodyPr/>
          <a:lstStyle/>
          <a:p>
            <a:fld id="{EC723807-FF10-4730-B603-EA98888C76C4}" type="slidenum">
              <a:rPr lang="en-IN" smtClean="0"/>
              <a:t>15</a:t>
            </a:fld>
            <a:endParaRPr lang="en-IN"/>
          </a:p>
        </p:txBody>
      </p:sp>
      <p:graphicFrame>
        <p:nvGraphicFramePr>
          <p:cNvPr id="3" name="Table 2">
            <a:extLst>
              <a:ext uri="{FF2B5EF4-FFF2-40B4-BE49-F238E27FC236}">
                <a16:creationId xmlns:a16="http://schemas.microsoft.com/office/drawing/2014/main" id="{160DB68B-3E6A-9D02-2DA8-5A4D24D50B4E}"/>
              </a:ext>
            </a:extLst>
          </p:cNvPr>
          <p:cNvGraphicFramePr>
            <a:graphicFrameLocks noGrp="1"/>
          </p:cNvGraphicFramePr>
          <p:nvPr>
            <p:extLst>
              <p:ext uri="{D42A27DB-BD31-4B8C-83A1-F6EECF244321}">
                <p14:modId xmlns:p14="http://schemas.microsoft.com/office/powerpoint/2010/main" val="2599315468"/>
              </p:ext>
            </p:extLst>
          </p:nvPr>
        </p:nvGraphicFramePr>
        <p:xfrm>
          <a:off x="1032753" y="2298952"/>
          <a:ext cx="10515600" cy="2866435"/>
        </p:xfrm>
        <a:graphic>
          <a:graphicData uri="http://schemas.openxmlformats.org/drawingml/2006/table">
            <a:tbl>
              <a:tblPr/>
              <a:tblGrid>
                <a:gridCol w="2628900">
                  <a:extLst>
                    <a:ext uri="{9D8B030D-6E8A-4147-A177-3AD203B41FA5}">
                      <a16:colId xmlns:a16="http://schemas.microsoft.com/office/drawing/2014/main" val="1533259391"/>
                    </a:ext>
                  </a:extLst>
                </a:gridCol>
                <a:gridCol w="2628900">
                  <a:extLst>
                    <a:ext uri="{9D8B030D-6E8A-4147-A177-3AD203B41FA5}">
                      <a16:colId xmlns:a16="http://schemas.microsoft.com/office/drawing/2014/main" val="1191220925"/>
                    </a:ext>
                  </a:extLst>
                </a:gridCol>
                <a:gridCol w="2628900">
                  <a:extLst>
                    <a:ext uri="{9D8B030D-6E8A-4147-A177-3AD203B41FA5}">
                      <a16:colId xmlns:a16="http://schemas.microsoft.com/office/drawing/2014/main" val="527252699"/>
                    </a:ext>
                  </a:extLst>
                </a:gridCol>
                <a:gridCol w="2628900">
                  <a:extLst>
                    <a:ext uri="{9D8B030D-6E8A-4147-A177-3AD203B41FA5}">
                      <a16:colId xmlns:a16="http://schemas.microsoft.com/office/drawing/2014/main" val="2006310341"/>
                    </a:ext>
                  </a:extLst>
                </a:gridCol>
              </a:tblGrid>
              <a:tr h="573287">
                <a:tc>
                  <a:txBody>
                    <a:bodyPr/>
                    <a:lstStyle/>
                    <a:p>
                      <a:pPr>
                        <a:buNone/>
                      </a:pPr>
                      <a:r>
                        <a:rPr lang="en-IN" dirty="0"/>
                        <a:t>Fields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Data Type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Key Constraints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32116471"/>
                  </a:ext>
                </a:extLst>
              </a:tr>
              <a:tr h="573287">
                <a:tc>
                  <a:txBody>
                    <a:bodyPr/>
                    <a:lstStyle/>
                    <a:p>
                      <a:pPr>
                        <a:buNone/>
                      </a:pPr>
                      <a:r>
                        <a:rPr lang="en-IN" dirty="0" err="1"/>
                        <a:t>user_id</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Unique identifier for user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int(30)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Primary Key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46673293"/>
                  </a:ext>
                </a:extLst>
              </a:tr>
              <a:tr h="573287">
                <a:tc>
                  <a:txBody>
                    <a:bodyPr/>
                    <a:lstStyle/>
                    <a:p>
                      <a:pPr>
                        <a:buNone/>
                      </a:pPr>
                      <a:r>
                        <a:rPr lang="en-IN"/>
                        <a:t>username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Login username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varchar(100)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Not Null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74059403"/>
                  </a:ext>
                </a:extLst>
              </a:tr>
              <a:tr h="573287">
                <a:tc>
                  <a:txBody>
                    <a:bodyPr/>
                    <a:lstStyle/>
                    <a:p>
                      <a:pPr>
                        <a:buNone/>
                      </a:pPr>
                      <a:r>
                        <a:rPr lang="en-IN"/>
                        <a:t>password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Encrypted password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varchar(200)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Not Null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92199799"/>
                  </a:ext>
                </a:extLst>
              </a:tr>
              <a:tr h="573287">
                <a:tc>
                  <a:txBody>
                    <a:bodyPr/>
                    <a:lstStyle/>
                    <a:p>
                      <a:pPr>
                        <a:buNone/>
                      </a:pPr>
                      <a:r>
                        <a:rPr lang="en-IN" dirty="0"/>
                        <a:t>role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User role (Admin/Staff)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varchar(50)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Not Null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24269709"/>
                  </a:ext>
                </a:extLst>
              </a:tr>
            </a:tbl>
          </a:graphicData>
        </a:graphic>
      </p:graphicFrame>
      <p:sp>
        <p:nvSpPr>
          <p:cNvPr id="8" name="Rectangle 1">
            <a:extLst>
              <a:ext uri="{FF2B5EF4-FFF2-40B4-BE49-F238E27FC236}">
                <a16:creationId xmlns:a16="http://schemas.microsoft.com/office/drawing/2014/main" id="{C787C7EF-E2A9-C77D-E1D5-FD0121D2481D}"/>
              </a:ext>
            </a:extLst>
          </p:cNvPr>
          <p:cNvSpPr>
            <a:spLocks noChangeArrowheads="1"/>
          </p:cNvSpPr>
          <p:nvPr/>
        </p:nvSpPr>
        <p:spPr bwMode="auto">
          <a:xfrm>
            <a:off x="953310" y="1478657"/>
            <a:ext cx="8813259" cy="984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i="0" u="none" strike="noStrike" cap="none" normalizeH="0" baseline="0" dirty="0">
                <a:ln>
                  <a:noFill/>
                </a:ln>
                <a:solidFill>
                  <a:schemeClr val="tx1"/>
                </a:solidFill>
                <a:effectLst/>
                <a:latin typeface="Times" panose="02020603050405020304" pitchFamily="18" charset="0"/>
                <a:cs typeface="Times" panose="02020603050405020304" pitchFamily="18" charset="0"/>
              </a:rPr>
              <a:t>TABLE 1. USER TABLE DESIGN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i="0" u="none" strike="noStrike" cap="none" normalizeH="0" baseline="0" dirty="0">
                <a:ln>
                  <a:noFill/>
                </a:ln>
                <a:solidFill>
                  <a:schemeClr val="tx1"/>
                </a:solidFill>
                <a:effectLst/>
                <a:latin typeface="Times" panose="02020603050405020304" pitchFamily="18" charset="0"/>
                <a:cs typeface="Times" panose="02020603050405020304" pitchFamily="18" charset="0"/>
              </a:rPr>
              <a:t>Table Name: users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049288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2EFD42-D205-73FC-466D-6DB571FC98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49FE43-40FD-F088-2505-EC127A667DDB}"/>
              </a:ext>
            </a:extLst>
          </p:cNvPr>
          <p:cNvSpPr>
            <a:spLocks noGrp="1"/>
          </p:cNvSpPr>
          <p:nvPr>
            <p:ph type="title"/>
          </p:nvPr>
        </p:nvSpPr>
        <p:spPr/>
        <p:txBody>
          <a:bodyPr>
            <a:normAutofit/>
          </a:bodyPr>
          <a:lstStyle/>
          <a:p>
            <a:pPr algn="ctr"/>
            <a:r>
              <a:rPr lang="en-IN" sz="3600" b="1" dirty="0">
                <a:solidFill>
                  <a:prstClr val="black"/>
                </a:solidFill>
                <a:latin typeface="Times New Roman" pitchFamily="18" charset="0"/>
                <a:cs typeface="Times New Roman" pitchFamily="18" charset="0"/>
              </a:rPr>
              <a:t>DATABASE DESIGN</a:t>
            </a:r>
            <a:endParaRPr lang="en-US" sz="3600" b="1" dirty="0">
              <a:solidFill>
                <a:prstClr val="black"/>
              </a:solidFill>
              <a:latin typeface="Times New Roman" pitchFamily="18" charset="0"/>
              <a:cs typeface="Times New Roman" pitchFamily="18" charset="0"/>
            </a:endParaRPr>
          </a:p>
        </p:txBody>
      </p:sp>
      <p:sp>
        <p:nvSpPr>
          <p:cNvPr id="5" name="Footer Placeholder 4">
            <a:extLst>
              <a:ext uri="{FF2B5EF4-FFF2-40B4-BE49-F238E27FC236}">
                <a16:creationId xmlns:a16="http://schemas.microsoft.com/office/drawing/2014/main" id="{82C8813C-0D5B-3E24-A046-9AEAA074A9DE}"/>
              </a:ext>
            </a:extLst>
          </p:cNvPr>
          <p:cNvSpPr>
            <a:spLocks noGrp="1"/>
          </p:cNvSpPr>
          <p:nvPr>
            <p:ph type="ftr" sz="quarter" idx="11"/>
          </p:nvPr>
        </p:nvSpPr>
        <p:spPr/>
        <p:txBody>
          <a:bodyPr/>
          <a:lstStyle/>
          <a:p>
            <a:r>
              <a:rPr lang="en-IN"/>
              <a:t>NGO MANAGEMENT SOFTWARE</a:t>
            </a:r>
          </a:p>
        </p:txBody>
      </p:sp>
      <p:sp>
        <p:nvSpPr>
          <p:cNvPr id="6" name="Slide Number Placeholder 5">
            <a:extLst>
              <a:ext uri="{FF2B5EF4-FFF2-40B4-BE49-F238E27FC236}">
                <a16:creationId xmlns:a16="http://schemas.microsoft.com/office/drawing/2014/main" id="{4E8A4AB7-C5DD-29C9-D9D5-F2698D0FFABF}"/>
              </a:ext>
            </a:extLst>
          </p:cNvPr>
          <p:cNvSpPr>
            <a:spLocks noGrp="1"/>
          </p:cNvSpPr>
          <p:nvPr>
            <p:ph type="sldNum" sz="quarter" idx="12"/>
          </p:nvPr>
        </p:nvSpPr>
        <p:spPr/>
        <p:txBody>
          <a:bodyPr/>
          <a:lstStyle/>
          <a:p>
            <a:fld id="{EC723807-FF10-4730-B603-EA98888C76C4}" type="slidenum">
              <a:rPr lang="en-IN" smtClean="0"/>
              <a:t>16</a:t>
            </a:fld>
            <a:endParaRPr lang="en-IN"/>
          </a:p>
        </p:txBody>
      </p:sp>
      <p:graphicFrame>
        <p:nvGraphicFramePr>
          <p:cNvPr id="3" name="Table 2">
            <a:extLst>
              <a:ext uri="{FF2B5EF4-FFF2-40B4-BE49-F238E27FC236}">
                <a16:creationId xmlns:a16="http://schemas.microsoft.com/office/drawing/2014/main" id="{481BD64A-DA45-4AAD-950A-BCC7BAFBA125}"/>
              </a:ext>
            </a:extLst>
          </p:cNvPr>
          <p:cNvGraphicFramePr>
            <a:graphicFrameLocks noGrp="1"/>
          </p:cNvGraphicFramePr>
          <p:nvPr>
            <p:extLst>
              <p:ext uri="{D42A27DB-BD31-4B8C-83A1-F6EECF244321}">
                <p14:modId xmlns:p14="http://schemas.microsoft.com/office/powerpoint/2010/main" val="4122187629"/>
              </p:ext>
            </p:extLst>
          </p:nvPr>
        </p:nvGraphicFramePr>
        <p:xfrm>
          <a:off x="1032753" y="2298952"/>
          <a:ext cx="10515600" cy="2933228"/>
        </p:xfrm>
        <a:graphic>
          <a:graphicData uri="http://schemas.openxmlformats.org/drawingml/2006/table">
            <a:tbl>
              <a:tblPr/>
              <a:tblGrid>
                <a:gridCol w="2628900">
                  <a:extLst>
                    <a:ext uri="{9D8B030D-6E8A-4147-A177-3AD203B41FA5}">
                      <a16:colId xmlns:a16="http://schemas.microsoft.com/office/drawing/2014/main" val="1533259391"/>
                    </a:ext>
                  </a:extLst>
                </a:gridCol>
                <a:gridCol w="2628900">
                  <a:extLst>
                    <a:ext uri="{9D8B030D-6E8A-4147-A177-3AD203B41FA5}">
                      <a16:colId xmlns:a16="http://schemas.microsoft.com/office/drawing/2014/main" val="1191220925"/>
                    </a:ext>
                  </a:extLst>
                </a:gridCol>
                <a:gridCol w="2628900">
                  <a:extLst>
                    <a:ext uri="{9D8B030D-6E8A-4147-A177-3AD203B41FA5}">
                      <a16:colId xmlns:a16="http://schemas.microsoft.com/office/drawing/2014/main" val="527252699"/>
                    </a:ext>
                  </a:extLst>
                </a:gridCol>
                <a:gridCol w="2628900">
                  <a:extLst>
                    <a:ext uri="{9D8B030D-6E8A-4147-A177-3AD203B41FA5}">
                      <a16:colId xmlns:a16="http://schemas.microsoft.com/office/drawing/2014/main" val="2006310341"/>
                    </a:ext>
                  </a:extLst>
                </a:gridCol>
              </a:tblGrid>
              <a:tr h="573287">
                <a:tc>
                  <a:txBody>
                    <a:bodyPr/>
                    <a:lstStyle/>
                    <a:p>
                      <a:pPr>
                        <a:buNone/>
                      </a:pPr>
                      <a:r>
                        <a:rPr lang="en-IN"/>
                        <a:t>Fields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Data Type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Key Constraints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32116471"/>
                  </a:ext>
                </a:extLst>
              </a:tr>
              <a:tr h="573287">
                <a:tc>
                  <a:txBody>
                    <a:bodyPr/>
                    <a:lstStyle/>
                    <a:p>
                      <a:pPr>
                        <a:buNone/>
                      </a:pPr>
                      <a:r>
                        <a:rPr lang="en-IN"/>
                        <a:t>donor_id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Unique identifier for donor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int(30)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Primary Key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46673293"/>
                  </a:ext>
                </a:extLst>
              </a:tr>
              <a:tr h="573287">
                <a:tc>
                  <a:txBody>
                    <a:bodyPr/>
                    <a:lstStyle/>
                    <a:p>
                      <a:pPr>
                        <a:buNone/>
                      </a:pPr>
                      <a:r>
                        <a:rPr lang="en-IN"/>
                        <a:t>donor_name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Name of the donor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varchar(200)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Not Null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74059403"/>
                  </a:ext>
                </a:extLst>
              </a:tr>
              <a:tr h="573287">
                <a:tc>
                  <a:txBody>
                    <a:bodyPr/>
                    <a:lstStyle/>
                    <a:p>
                      <a:pPr>
                        <a:buNone/>
                      </a:pPr>
                      <a:r>
                        <a:rPr lang="en-IN"/>
                        <a:t>donor_email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Email address of donor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varchar(200)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Not Null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92199799"/>
                  </a:ext>
                </a:extLst>
              </a:tr>
              <a:tr h="573287">
                <a:tc>
                  <a:txBody>
                    <a:bodyPr/>
                    <a:lstStyle/>
                    <a:p>
                      <a:pPr>
                        <a:buNone/>
                      </a:pPr>
                      <a:r>
                        <a:rPr lang="en-IN"/>
                        <a:t>donor_phone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Contact number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varchar(15)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Not Null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24269709"/>
                  </a:ext>
                </a:extLst>
              </a:tr>
            </a:tbl>
          </a:graphicData>
        </a:graphic>
      </p:graphicFrame>
      <p:sp>
        <p:nvSpPr>
          <p:cNvPr id="8" name="Rectangle 1">
            <a:extLst>
              <a:ext uri="{FF2B5EF4-FFF2-40B4-BE49-F238E27FC236}">
                <a16:creationId xmlns:a16="http://schemas.microsoft.com/office/drawing/2014/main" id="{81517FF3-1759-2231-1BBC-F1AD666F356A}"/>
              </a:ext>
            </a:extLst>
          </p:cNvPr>
          <p:cNvSpPr>
            <a:spLocks noChangeArrowheads="1"/>
          </p:cNvSpPr>
          <p:nvPr/>
        </p:nvSpPr>
        <p:spPr bwMode="auto">
          <a:xfrm>
            <a:off x="953310" y="1478657"/>
            <a:ext cx="8813259" cy="984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000" dirty="0">
                <a:latin typeface="Times" panose="02020603050405020304" pitchFamily="18" charset="0"/>
                <a:cs typeface="Times" panose="02020603050405020304" pitchFamily="18" charset="0"/>
              </a:rPr>
              <a:t>TABLE 2. DONOR TABLE DESIGN</a:t>
            </a:r>
          </a:p>
          <a:p>
            <a:r>
              <a:rPr lang="en-US" sz="2000" dirty="0">
                <a:latin typeface="Times" panose="02020603050405020304" pitchFamily="18" charset="0"/>
                <a:cs typeface="Times" panose="02020603050405020304" pitchFamily="18" charset="0"/>
              </a:rPr>
              <a:t>Table Name: donors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877591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9227E-9762-56D4-2257-3593BB74BB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3E71E0-C364-7D29-FBC0-6FE287B9D901}"/>
              </a:ext>
            </a:extLst>
          </p:cNvPr>
          <p:cNvSpPr>
            <a:spLocks noGrp="1"/>
          </p:cNvSpPr>
          <p:nvPr>
            <p:ph type="title"/>
          </p:nvPr>
        </p:nvSpPr>
        <p:spPr/>
        <p:txBody>
          <a:bodyPr>
            <a:normAutofit/>
          </a:bodyPr>
          <a:lstStyle/>
          <a:p>
            <a:pPr algn="ctr"/>
            <a:r>
              <a:rPr lang="en-IN" sz="3600" b="1" dirty="0">
                <a:solidFill>
                  <a:prstClr val="black"/>
                </a:solidFill>
                <a:latin typeface="Times New Roman" pitchFamily="18" charset="0"/>
                <a:cs typeface="Times New Roman" pitchFamily="18" charset="0"/>
              </a:rPr>
              <a:t>DATABASE DESIGN</a:t>
            </a:r>
            <a:endParaRPr lang="en-US" sz="3600" b="1" dirty="0">
              <a:solidFill>
                <a:prstClr val="black"/>
              </a:solidFill>
              <a:latin typeface="Times New Roman" pitchFamily="18" charset="0"/>
              <a:cs typeface="Times New Roman" pitchFamily="18" charset="0"/>
            </a:endParaRPr>
          </a:p>
        </p:txBody>
      </p:sp>
      <p:sp>
        <p:nvSpPr>
          <p:cNvPr id="5" name="Footer Placeholder 4">
            <a:extLst>
              <a:ext uri="{FF2B5EF4-FFF2-40B4-BE49-F238E27FC236}">
                <a16:creationId xmlns:a16="http://schemas.microsoft.com/office/drawing/2014/main" id="{47EE3641-1A84-38FD-AD0D-3419BC23CB1F}"/>
              </a:ext>
            </a:extLst>
          </p:cNvPr>
          <p:cNvSpPr>
            <a:spLocks noGrp="1"/>
          </p:cNvSpPr>
          <p:nvPr>
            <p:ph type="ftr" sz="quarter" idx="11"/>
          </p:nvPr>
        </p:nvSpPr>
        <p:spPr/>
        <p:txBody>
          <a:bodyPr/>
          <a:lstStyle/>
          <a:p>
            <a:r>
              <a:rPr lang="en-IN"/>
              <a:t>NGO MANAGEMENT SOFTWARE</a:t>
            </a:r>
          </a:p>
        </p:txBody>
      </p:sp>
      <p:sp>
        <p:nvSpPr>
          <p:cNvPr id="6" name="Slide Number Placeholder 5">
            <a:extLst>
              <a:ext uri="{FF2B5EF4-FFF2-40B4-BE49-F238E27FC236}">
                <a16:creationId xmlns:a16="http://schemas.microsoft.com/office/drawing/2014/main" id="{2AD740DC-4B4B-501F-00A4-0B2CA18923F5}"/>
              </a:ext>
            </a:extLst>
          </p:cNvPr>
          <p:cNvSpPr>
            <a:spLocks noGrp="1"/>
          </p:cNvSpPr>
          <p:nvPr>
            <p:ph type="sldNum" sz="quarter" idx="12"/>
          </p:nvPr>
        </p:nvSpPr>
        <p:spPr/>
        <p:txBody>
          <a:bodyPr/>
          <a:lstStyle/>
          <a:p>
            <a:fld id="{EC723807-FF10-4730-B603-EA98888C76C4}" type="slidenum">
              <a:rPr lang="en-IN" smtClean="0"/>
              <a:t>17</a:t>
            </a:fld>
            <a:endParaRPr lang="en-IN"/>
          </a:p>
        </p:txBody>
      </p:sp>
      <p:graphicFrame>
        <p:nvGraphicFramePr>
          <p:cNvPr id="3" name="Table 2">
            <a:extLst>
              <a:ext uri="{FF2B5EF4-FFF2-40B4-BE49-F238E27FC236}">
                <a16:creationId xmlns:a16="http://schemas.microsoft.com/office/drawing/2014/main" id="{452B8624-ADAF-A898-07D0-53FF1CADD596}"/>
              </a:ext>
            </a:extLst>
          </p:cNvPr>
          <p:cNvGraphicFramePr>
            <a:graphicFrameLocks noGrp="1"/>
          </p:cNvGraphicFramePr>
          <p:nvPr>
            <p:extLst>
              <p:ext uri="{D42A27DB-BD31-4B8C-83A1-F6EECF244321}">
                <p14:modId xmlns:p14="http://schemas.microsoft.com/office/powerpoint/2010/main" val="109693706"/>
              </p:ext>
            </p:extLst>
          </p:nvPr>
        </p:nvGraphicFramePr>
        <p:xfrm>
          <a:off x="1032753" y="2298952"/>
          <a:ext cx="10515600" cy="2933228"/>
        </p:xfrm>
        <a:graphic>
          <a:graphicData uri="http://schemas.openxmlformats.org/drawingml/2006/table">
            <a:tbl>
              <a:tblPr/>
              <a:tblGrid>
                <a:gridCol w="2628900">
                  <a:extLst>
                    <a:ext uri="{9D8B030D-6E8A-4147-A177-3AD203B41FA5}">
                      <a16:colId xmlns:a16="http://schemas.microsoft.com/office/drawing/2014/main" val="1533259391"/>
                    </a:ext>
                  </a:extLst>
                </a:gridCol>
                <a:gridCol w="2628900">
                  <a:extLst>
                    <a:ext uri="{9D8B030D-6E8A-4147-A177-3AD203B41FA5}">
                      <a16:colId xmlns:a16="http://schemas.microsoft.com/office/drawing/2014/main" val="1191220925"/>
                    </a:ext>
                  </a:extLst>
                </a:gridCol>
                <a:gridCol w="2628900">
                  <a:extLst>
                    <a:ext uri="{9D8B030D-6E8A-4147-A177-3AD203B41FA5}">
                      <a16:colId xmlns:a16="http://schemas.microsoft.com/office/drawing/2014/main" val="527252699"/>
                    </a:ext>
                  </a:extLst>
                </a:gridCol>
                <a:gridCol w="2628900">
                  <a:extLst>
                    <a:ext uri="{9D8B030D-6E8A-4147-A177-3AD203B41FA5}">
                      <a16:colId xmlns:a16="http://schemas.microsoft.com/office/drawing/2014/main" val="2006310341"/>
                    </a:ext>
                  </a:extLst>
                </a:gridCol>
              </a:tblGrid>
              <a:tr h="573287">
                <a:tc>
                  <a:txBody>
                    <a:bodyPr/>
                    <a:lstStyle/>
                    <a:p>
                      <a:pPr>
                        <a:buNone/>
                      </a:pPr>
                      <a:r>
                        <a:rPr lang="en-IN"/>
                        <a:t>Fields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Data Type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Key Constraints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32116471"/>
                  </a:ext>
                </a:extLst>
              </a:tr>
              <a:tr h="573287">
                <a:tc>
                  <a:txBody>
                    <a:bodyPr/>
                    <a:lstStyle/>
                    <a:p>
                      <a:pPr>
                        <a:buNone/>
                      </a:pPr>
                      <a:r>
                        <a:rPr lang="en-IN"/>
                        <a:t>volunteer_id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Unique identifier for volunteer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int(30)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Primary Key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46673293"/>
                  </a:ext>
                </a:extLst>
              </a:tr>
              <a:tr h="573287">
                <a:tc>
                  <a:txBody>
                    <a:bodyPr/>
                    <a:lstStyle/>
                    <a:p>
                      <a:pPr>
                        <a:buNone/>
                      </a:pPr>
                      <a:r>
                        <a:rPr lang="en-IN"/>
                        <a:t>volunteer_name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Name of the volunteer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varchar(200)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Not Null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74059403"/>
                  </a:ext>
                </a:extLst>
              </a:tr>
              <a:tr h="573287">
                <a:tc>
                  <a:txBody>
                    <a:bodyPr/>
                    <a:lstStyle/>
                    <a:p>
                      <a:pPr>
                        <a:buNone/>
                      </a:pPr>
                      <a:r>
                        <a:rPr lang="en-IN"/>
                        <a:t>volunteer_email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Email address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varchar(200)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Not Null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92199799"/>
                  </a:ext>
                </a:extLst>
              </a:tr>
              <a:tr h="573287">
                <a:tc>
                  <a:txBody>
                    <a:bodyPr/>
                    <a:lstStyle/>
                    <a:p>
                      <a:pPr>
                        <a:buNone/>
                      </a:pPr>
                      <a:r>
                        <a:rPr lang="en-IN"/>
                        <a:t>volunteer_phone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Contact number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varchar(15)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Not Null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24269709"/>
                  </a:ext>
                </a:extLst>
              </a:tr>
            </a:tbl>
          </a:graphicData>
        </a:graphic>
      </p:graphicFrame>
      <p:sp>
        <p:nvSpPr>
          <p:cNvPr id="8" name="Rectangle 1">
            <a:extLst>
              <a:ext uri="{FF2B5EF4-FFF2-40B4-BE49-F238E27FC236}">
                <a16:creationId xmlns:a16="http://schemas.microsoft.com/office/drawing/2014/main" id="{74CB6F94-ADA5-7611-80D7-62C595556657}"/>
              </a:ext>
            </a:extLst>
          </p:cNvPr>
          <p:cNvSpPr>
            <a:spLocks noChangeArrowheads="1"/>
          </p:cNvSpPr>
          <p:nvPr/>
        </p:nvSpPr>
        <p:spPr bwMode="auto">
          <a:xfrm>
            <a:off x="953310" y="1478657"/>
            <a:ext cx="8813259" cy="984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000" dirty="0">
                <a:latin typeface="Times" panose="02020603050405020304" pitchFamily="18" charset="0"/>
                <a:cs typeface="Times" panose="02020603050405020304" pitchFamily="18" charset="0"/>
              </a:rPr>
              <a:t>TABLE 3. VOLUNTEER TABLE DESIGN</a:t>
            </a:r>
          </a:p>
          <a:p>
            <a:r>
              <a:rPr lang="en-US" sz="2000" dirty="0">
                <a:latin typeface="Times" panose="02020603050405020304" pitchFamily="18" charset="0"/>
                <a:cs typeface="Times" panose="02020603050405020304" pitchFamily="18" charset="0"/>
              </a:rPr>
              <a:t>Table Name: volunteers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150231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CFBF22-CB95-E0D6-56F5-D1612DB69A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2F6EFD-DAB2-7C30-F91B-99EEFEB7FB4B}"/>
              </a:ext>
            </a:extLst>
          </p:cNvPr>
          <p:cNvSpPr>
            <a:spLocks noGrp="1"/>
          </p:cNvSpPr>
          <p:nvPr>
            <p:ph type="title"/>
          </p:nvPr>
        </p:nvSpPr>
        <p:spPr/>
        <p:txBody>
          <a:bodyPr>
            <a:normAutofit/>
          </a:bodyPr>
          <a:lstStyle/>
          <a:p>
            <a:pPr algn="ctr"/>
            <a:r>
              <a:rPr lang="en-IN" sz="3600" b="1" dirty="0">
                <a:solidFill>
                  <a:prstClr val="black"/>
                </a:solidFill>
                <a:latin typeface="Times New Roman" pitchFamily="18" charset="0"/>
                <a:cs typeface="Times New Roman" pitchFamily="18" charset="0"/>
              </a:rPr>
              <a:t>DATABASE DESIGN</a:t>
            </a:r>
            <a:endParaRPr lang="en-US" sz="3600" b="1" dirty="0">
              <a:solidFill>
                <a:prstClr val="black"/>
              </a:solidFill>
              <a:latin typeface="Times New Roman" pitchFamily="18" charset="0"/>
              <a:cs typeface="Times New Roman" pitchFamily="18" charset="0"/>
            </a:endParaRPr>
          </a:p>
        </p:txBody>
      </p:sp>
      <p:sp>
        <p:nvSpPr>
          <p:cNvPr id="5" name="Footer Placeholder 4">
            <a:extLst>
              <a:ext uri="{FF2B5EF4-FFF2-40B4-BE49-F238E27FC236}">
                <a16:creationId xmlns:a16="http://schemas.microsoft.com/office/drawing/2014/main" id="{64F7817D-7096-CBB4-2D1A-0DAA4DB5FE78}"/>
              </a:ext>
            </a:extLst>
          </p:cNvPr>
          <p:cNvSpPr>
            <a:spLocks noGrp="1"/>
          </p:cNvSpPr>
          <p:nvPr>
            <p:ph type="ftr" sz="quarter" idx="11"/>
          </p:nvPr>
        </p:nvSpPr>
        <p:spPr/>
        <p:txBody>
          <a:bodyPr/>
          <a:lstStyle/>
          <a:p>
            <a:r>
              <a:rPr lang="en-IN"/>
              <a:t>NGO MANAGEMENT SOFTWARE</a:t>
            </a:r>
          </a:p>
        </p:txBody>
      </p:sp>
      <p:sp>
        <p:nvSpPr>
          <p:cNvPr id="6" name="Slide Number Placeholder 5">
            <a:extLst>
              <a:ext uri="{FF2B5EF4-FFF2-40B4-BE49-F238E27FC236}">
                <a16:creationId xmlns:a16="http://schemas.microsoft.com/office/drawing/2014/main" id="{C5AC3763-D168-0F0A-8770-1B438362A1B7}"/>
              </a:ext>
            </a:extLst>
          </p:cNvPr>
          <p:cNvSpPr>
            <a:spLocks noGrp="1"/>
          </p:cNvSpPr>
          <p:nvPr>
            <p:ph type="sldNum" sz="quarter" idx="12"/>
          </p:nvPr>
        </p:nvSpPr>
        <p:spPr/>
        <p:txBody>
          <a:bodyPr/>
          <a:lstStyle/>
          <a:p>
            <a:fld id="{EC723807-FF10-4730-B603-EA98888C76C4}" type="slidenum">
              <a:rPr lang="en-IN" smtClean="0"/>
              <a:t>18</a:t>
            </a:fld>
            <a:endParaRPr lang="en-IN"/>
          </a:p>
        </p:txBody>
      </p:sp>
      <p:graphicFrame>
        <p:nvGraphicFramePr>
          <p:cNvPr id="3" name="Table 2">
            <a:extLst>
              <a:ext uri="{FF2B5EF4-FFF2-40B4-BE49-F238E27FC236}">
                <a16:creationId xmlns:a16="http://schemas.microsoft.com/office/drawing/2014/main" id="{278B77BB-6EAE-09F3-5F88-09EE23CB2718}"/>
              </a:ext>
            </a:extLst>
          </p:cNvPr>
          <p:cNvGraphicFramePr>
            <a:graphicFrameLocks noGrp="1"/>
          </p:cNvGraphicFramePr>
          <p:nvPr>
            <p:extLst>
              <p:ext uri="{D42A27DB-BD31-4B8C-83A1-F6EECF244321}">
                <p14:modId xmlns:p14="http://schemas.microsoft.com/office/powerpoint/2010/main" val="478200945"/>
              </p:ext>
            </p:extLst>
          </p:nvPr>
        </p:nvGraphicFramePr>
        <p:xfrm>
          <a:off x="1032753" y="2298952"/>
          <a:ext cx="10515600" cy="2933228"/>
        </p:xfrm>
        <a:graphic>
          <a:graphicData uri="http://schemas.openxmlformats.org/drawingml/2006/table">
            <a:tbl>
              <a:tblPr/>
              <a:tblGrid>
                <a:gridCol w="2628900">
                  <a:extLst>
                    <a:ext uri="{9D8B030D-6E8A-4147-A177-3AD203B41FA5}">
                      <a16:colId xmlns:a16="http://schemas.microsoft.com/office/drawing/2014/main" val="1533259391"/>
                    </a:ext>
                  </a:extLst>
                </a:gridCol>
                <a:gridCol w="2628900">
                  <a:extLst>
                    <a:ext uri="{9D8B030D-6E8A-4147-A177-3AD203B41FA5}">
                      <a16:colId xmlns:a16="http://schemas.microsoft.com/office/drawing/2014/main" val="1191220925"/>
                    </a:ext>
                  </a:extLst>
                </a:gridCol>
                <a:gridCol w="2628900">
                  <a:extLst>
                    <a:ext uri="{9D8B030D-6E8A-4147-A177-3AD203B41FA5}">
                      <a16:colId xmlns:a16="http://schemas.microsoft.com/office/drawing/2014/main" val="527252699"/>
                    </a:ext>
                  </a:extLst>
                </a:gridCol>
                <a:gridCol w="2628900">
                  <a:extLst>
                    <a:ext uri="{9D8B030D-6E8A-4147-A177-3AD203B41FA5}">
                      <a16:colId xmlns:a16="http://schemas.microsoft.com/office/drawing/2014/main" val="2006310341"/>
                    </a:ext>
                  </a:extLst>
                </a:gridCol>
              </a:tblGrid>
              <a:tr h="573287">
                <a:tc>
                  <a:txBody>
                    <a:bodyPr/>
                    <a:lstStyle/>
                    <a:p>
                      <a:pPr>
                        <a:buNone/>
                      </a:pPr>
                      <a:r>
                        <a:rPr lang="en-IN"/>
                        <a:t>Fields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Data Type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Key Constraints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32116471"/>
                  </a:ext>
                </a:extLst>
              </a:tr>
              <a:tr h="573287">
                <a:tc>
                  <a:txBody>
                    <a:bodyPr/>
                    <a:lstStyle/>
                    <a:p>
                      <a:pPr>
                        <a:buNone/>
                      </a:pPr>
                      <a:r>
                        <a:rPr lang="en-IN"/>
                        <a:t>beneficiary_id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Unique identifier for beneficiary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int(30)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Primary Key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46673293"/>
                  </a:ext>
                </a:extLst>
              </a:tr>
              <a:tr h="573287">
                <a:tc>
                  <a:txBody>
                    <a:bodyPr/>
                    <a:lstStyle/>
                    <a:p>
                      <a:pPr>
                        <a:buNone/>
                      </a:pPr>
                      <a:r>
                        <a:rPr lang="en-IN"/>
                        <a:t>beneficiary_name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Name of the beneficiary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varchar(200)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Not Null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74059403"/>
                  </a:ext>
                </a:extLst>
              </a:tr>
              <a:tr h="573287">
                <a:tc>
                  <a:txBody>
                    <a:bodyPr/>
                    <a:lstStyle/>
                    <a:p>
                      <a:pPr>
                        <a:buNone/>
                      </a:pPr>
                      <a:r>
                        <a:rPr lang="en-IN"/>
                        <a:t>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Age of beneficiary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int(5)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Not Null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92199799"/>
                  </a:ext>
                </a:extLst>
              </a:tr>
              <a:tr h="573287">
                <a:tc>
                  <a:txBody>
                    <a:bodyPr/>
                    <a:lstStyle/>
                    <a:p>
                      <a:pPr>
                        <a:buNone/>
                      </a:pPr>
                      <a:r>
                        <a:rPr lang="en-IN"/>
                        <a:t>address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Address details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text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Not Null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24269709"/>
                  </a:ext>
                </a:extLst>
              </a:tr>
            </a:tbl>
          </a:graphicData>
        </a:graphic>
      </p:graphicFrame>
      <p:sp>
        <p:nvSpPr>
          <p:cNvPr id="8" name="Rectangle 1">
            <a:extLst>
              <a:ext uri="{FF2B5EF4-FFF2-40B4-BE49-F238E27FC236}">
                <a16:creationId xmlns:a16="http://schemas.microsoft.com/office/drawing/2014/main" id="{514B6E27-3D3F-408F-49D0-FCAF20BF3FEF}"/>
              </a:ext>
            </a:extLst>
          </p:cNvPr>
          <p:cNvSpPr>
            <a:spLocks noChangeArrowheads="1"/>
          </p:cNvSpPr>
          <p:nvPr/>
        </p:nvSpPr>
        <p:spPr bwMode="auto">
          <a:xfrm>
            <a:off x="953310" y="1478657"/>
            <a:ext cx="8813259" cy="984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000" dirty="0">
                <a:latin typeface="Times" panose="02020603050405020304" pitchFamily="18" charset="0"/>
                <a:cs typeface="Times" panose="02020603050405020304" pitchFamily="18" charset="0"/>
              </a:rPr>
              <a:t>TABLE 4. BENEFICIARY TABLE DESIGN</a:t>
            </a:r>
          </a:p>
          <a:p>
            <a:r>
              <a:rPr lang="en-US" sz="2000" dirty="0">
                <a:latin typeface="Times" panose="02020603050405020304" pitchFamily="18" charset="0"/>
                <a:cs typeface="Times" panose="02020603050405020304" pitchFamily="18" charset="0"/>
              </a:rPr>
              <a:t>Table Name: beneficiaries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268039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3600" b="1" dirty="0">
                <a:solidFill>
                  <a:prstClr val="black"/>
                </a:solidFill>
                <a:latin typeface="Times New Roman" pitchFamily="18" charset="0"/>
                <a:cs typeface="Times New Roman" pitchFamily="18" charset="0"/>
              </a:rPr>
              <a:t>SYSTEM DESIGN</a:t>
            </a:r>
            <a:endParaRPr lang="en-US" sz="3600" b="1" dirty="0">
              <a:solidFill>
                <a:prstClr val="black"/>
              </a:solidFill>
              <a:latin typeface="Times New Roman" pitchFamily="18" charset="0"/>
              <a:cs typeface="Times New Roman" pitchFamily="18" charset="0"/>
            </a:endParaRPr>
          </a:p>
        </p:txBody>
      </p:sp>
      <p:sp>
        <p:nvSpPr>
          <p:cNvPr id="5" name="Footer Placeholder 4"/>
          <p:cNvSpPr>
            <a:spLocks noGrp="1"/>
          </p:cNvSpPr>
          <p:nvPr>
            <p:ph type="ftr" sz="quarter" idx="11"/>
          </p:nvPr>
        </p:nvSpPr>
        <p:spPr/>
        <p:txBody>
          <a:bodyPr/>
          <a:lstStyle/>
          <a:p>
            <a:r>
              <a:rPr lang="en-IN"/>
              <a:t>NGO MANAGEMENT SOFTWARE</a:t>
            </a:r>
          </a:p>
        </p:txBody>
      </p:sp>
      <p:sp>
        <p:nvSpPr>
          <p:cNvPr id="6" name="Slide Number Placeholder 5"/>
          <p:cNvSpPr>
            <a:spLocks noGrp="1"/>
          </p:cNvSpPr>
          <p:nvPr>
            <p:ph type="sldNum" sz="quarter" idx="12"/>
          </p:nvPr>
        </p:nvSpPr>
        <p:spPr/>
        <p:txBody>
          <a:bodyPr/>
          <a:lstStyle/>
          <a:p>
            <a:fld id="{EC723807-FF10-4730-B603-EA98888C76C4}" type="slidenum">
              <a:rPr lang="en-IN" smtClean="0"/>
              <a:t>19</a:t>
            </a:fld>
            <a:endParaRPr lang="en-IN"/>
          </a:p>
        </p:txBody>
      </p:sp>
      <p:sp>
        <p:nvSpPr>
          <p:cNvPr id="7" name="Content Placeholder 2"/>
          <p:cNvSpPr txBox="1">
            <a:spLocks/>
          </p:cNvSpPr>
          <p:nvPr/>
        </p:nvSpPr>
        <p:spPr>
          <a:xfrm>
            <a:off x="823174" y="1468192"/>
            <a:ext cx="10515600" cy="462320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t> Entity Relationship diagrams of NGO Software.</a:t>
            </a:r>
          </a:p>
        </p:txBody>
      </p:sp>
      <p:pic>
        <p:nvPicPr>
          <p:cNvPr id="4" name="Picture 3">
            <a:extLst>
              <a:ext uri="{FF2B5EF4-FFF2-40B4-BE49-F238E27FC236}">
                <a16:creationId xmlns:a16="http://schemas.microsoft.com/office/drawing/2014/main" id="{69907DE1-C1F5-9D13-9FF2-F92096F65593}"/>
              </a:ext>
            </a:extLst>
          </p:cNvPr>
          <p:cNvPicPr>
            <a:picLocks noChangeAspect="1"/>
          </p:cNvPicPr>
          <p:nvPr/>
        </p:nvPicPr>
        <p:blipFill>
          <a:blip r:embed="rId2"/>
          <a:stretch>
            <a:fillRect/>
          </a:stretch>
        </p:blipFill>
        <p:spPr>
          <a:xfrm>
            <a:off x="1984443" y="1766069"/>
            <a:ext cx="8190689" cy="4514900"/>
          </a:xfrm>
          <a:prstGeom prst="rect">
            <a:avLst/>
          </a:prstGeom>
        </p:spPr>
      </p:pic>
    </p:spTree>
    <p:extLst>
      <p:ext uri="{BB962C8B-B14F-4D97-AF65-F5344CB8AC3E}">
        <p14:creationId xmlns:p14="http://schemas.microsoft.com/office/powerpoint/2010/main" val="38676339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3600" b="1" dirty="0">
                <a:solidFill>
                  <a:prstClr val="black"/>
                </a:solidFill>
                <a:latin typeface="Times New Roman" pitchFamily="18" charset="0"/>
                <a:cs typeface="Times New Roman" pitchFamily="18" charset="0"/>
              </a:rPr>
              <a:t>SYSTEM DESIGN</a:t>
            </a:r>
            <a:endParaRPr lang="en-US" sz="3600" b="1" dirty="0">
              <a:solidFill>
                <a:prstClr val="black"/>
              </a:solidFill>
              <a:latin typeface="Times New Roman" pitchFamily="18" charset="0"/>
              <a:cs typeface="Times New Roman" pitchFamily="18" charset="0"/>
            </a:endParaRPr>
          </a:p>
        </p:txBody>
      </p:sp>
      <p:sp>
        <p:nvSpPr>
          <p:cNvPr id="5" name="Footer Placeholder 4"/>
          <p:cNvSpPr>
            <a:spLocks noGrp="1"/>
          </p:cNvSpPr>
          <p:nvPr>
            <p:ph type="ftr" sz="quarter" idx="11"/>
          </p:nvPr>
        </p:nvSpPr>
        <p:spPr/>
        <p:txBody>
          <a:bodyPr/>
          <a:lstStyle/>
          <a:p>
            <a:r>
              <a:rPr lang="en-IN"/>
              <a:t>NGO MANAGEMENT SOFTWARE</a:t>
            </a:r>
          </a:p>
        </p:txBody>
      </p:sp>
      <p:sp>
        <p:nvSpPr>
          <p:cNvPr id="6" name="Slide Number Placeholder 5"/>
          <p:cNvSpPr>
            <a:spLocks noGrp="1"/>
          </p:cNvSpPr>
          <p:nvPr>
            <p:ph type="sldNum" sz="quarter" idx="12"/>
          </p:nvPr>
        </p:nvSpPr>
        <p:spPr/>
        <p:txBody>
          <a:bodyPr/>
          <a:lstStyle/>
          <a:p>
            <a:fld id="{EC723807-FF10-4730-B603-EA98888C76C4}" type="slidenum">
              <a:rPr lang="en-IN" smtClean="0"/>
              <a:t>20</a:t>
            </a:fld>
            <a:endParaRPr lang="en-IN"/>
          </a:p>
        </p:txBody>
      </p:sp>
      <p:sp>
        <p:nvSpPr>
          <p:cNvPr id="7" name="Content Placeholder 2"/>
          <p:cNvSpPr txBox="1">
            <a:spLocks/>
          </p:cNvSpPr>
          <p:nvPr/>
        </p:nvSpPr>
        <p:spPr>
          <a:xfrm>
            <a:off x="823174" y="1429555"/>
            <a:ext cx="10515600" cy="466184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2000" dirty="0"/>
          </a:p>
        </p:txBody>
      </p:sp>
      <p:pic>
        <p:nvPicPr>
          <p:cNvPr id="11266" name="Picture 2" descr="PlantUML diagram">
            <a:extLst>
              <a:ext uri="{FF2B5EF4-FFF2-40B4-BE49-F238E27FC236}">
                <a16:creationId xmlns:a16="http://schemas.microsoft.com/office/drawing/2014/main" id="{A01F42F2-F755-4CA6-7B17-E27B688470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81400" y="1829308"/>
            <a:ext cx="4924425" cy="37052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231842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3600" b="1" dirty="0">
                <a:solidFill>
                  <a:prstClr val="black"/>
                </a:solidFill>
                <a:latin typeface="Times New Roman" pitchFamily="18" charset="0"/>
                <a:cs typeface="Times New Roman" pitchFamily="18" charset="0"/>
              </a:rPr>
              <a:t>REFERENCES</a:t>
            </a:r>
            <a:endParaRPr lang="en-US" sz="3600" b="1" dirty="0">
              <a:solidFill>
                <a:prstClr val="black"/>
              </a:solidFill>
              <a:latin typeface="Times New Roman" pitchFamily="18" charset="0"/>
              <a:cs typeface="Times New Roman" pitchFamily="18" charset="0"/>
            </a:endParaRPr>
          </a:p>
        </p:txBody>
      </p:sp>
      <p:sp>
        <p:nvSpPr>
          <p:cNvPr id="5" name="Footer Placeholder 4"/>
          <p:cNvSpPr>
            <a:spLocks noGrp="1"/>
          </p:cNvSpPr>
          <p:nvPr>
            <p:ph type="ftr" sz="quarter" idx="11"/>
          </p:nvPr>
        </p:nvSpPr>
        <p:spPr/>
        <p:txBody>
          <a:bodyPr/>
          <a:lstStyle/>
          <a:p>
            <a:r>
              <a:rPr lang="en-IN"/>
              <a:t>NGO MANAGEMENT SOFTWARE</a:t>
            </a:r>
          </a:p>
        </p:txBody>
      </p:sp>
      <p:sp>
        <p:nvSpPr>
          <p:cNvPr id="6" name="Slide Number Placeholder 5"/>
          <p:cNvSpPr>
            <a:spLocks noGrp="1"/>
          </p:cNvSpPr>
          <p:nvPr>
            <p:ph type="sldNum" sz="quarter" idx="12"/>
          </p:nvPr>
        </p:nvSpPr>
        <p:spPr/>
        <p:txBody>
          <a:bodyPr/>
          <a:lstStyle/>
          <a:p>
            <a:fld id="{EC723807-FF10-4730-B603-EA98888C76C4}" type="slidenum">
              <a:rPr lang="en-IN" smtClean="0"/>
              <a:t>21</a:t>
            </a:fld>
            <a:endParaRPr lang="en-IN"/>
          </a:p>
        </p:txBody>
      </p:sp>
      <p:sp>
        <p:nvSpPr>
          <p:cNvPr id="7" name="Content Placeholder 2"/>
          <p:cNvSpPr txBox="1">
            <a:spLocks/>
          </p:cNvSpPr>
          <p:nvPr/>
        </p:nvSpPr>
        <p:spPr>
          <a:xfrm>
            <a:off x="823174" y="1740057"/>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p:txBody>
      </p:sp>
      <p:sp>
        <p:nvSpPr>
          <p:cNvPr id="9" name="Rectangle 2">
            <a:extLst>
              <a:ext uri="{FF2B5EF4-FFF2-40B4-BE49-F238E27FC236}">
                <a16:creationId xmlns:a16="http://schemas.microsoft.com/office/drawing/2014/main" id="{47FD0D69-7C7B-98D9-63BA-0EA60F95D106}"/>
              </a:ext>
            </a:extLst>
          </p:cNvPr>
          <p:cNvSpPr>
            <a:spLocks noChangeArrowheads="1"/>
          </p:cNvSpPr>
          <p:nvPr/>
        </p:nvSpPr>
        <p:spPr bwMode="auto">
          <a:xfrm>
            <a:off x="1147864" y="1556949"/>
            <a:ext cx="10220961" cy="4191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just"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chemeClr val="tx1"/>
                </a:solidFill>
                <a:effectLst/>
                <a:latin typeface="Times" panose="02020603050405020304" pitchFamily="18" charset="0"/>
                <a:cs typeface="Times" panose="02020603050405020304" pitchFamily="18" charset="0"/>
              </a:rPr>
              <a:t>Flask Documentation – </a:t>
            </a:r>
            <a:r>
              <a:rPr kumimoji="0" lang="en-US" altLang="en-US" sz="2000" b="0" i="1" u="none" strike="noStrike" cap="none" normalizeH="0" baseline="0" dirty="0">
                <a:ln>
                  <a:noFill/>
                </a:ln>
                <a:solidFill>
                  <a:schemeClr val="tx1"/>
                </a:solidFill>
                <a:effectLst/>
                <a:latin typeface="Times" panose="02020603050405020304" pitchFamily="18" charset="0"/>
                <a:cs typeface="Times" panose="02020603050405020304" pitchFamily="18" charset="0"/>
                <a:hlinkClick r:id="rId2"/>
              </a:rPr>
              <a:t>https://flask.palletsprojects.com</a:t>
            </a:r>
            <a:endParaRPr kumimoji="0" lang="en-US" altLang="en-US" sz="2000" b="0" i="0" u="none" strike="noStrike" cap="none" normalizeH="0" baseline="0" dirty="0">
              <a:ln>
                <a:noFill/>
              </a:ln>
              <a:solidFill>
                <a:schemeClr val="tx1"/>
              </a:solidFill>
              <a:effectLst/>
              <a:latin typeface="Times" panose="02020603050405020304" pitchFamily="18" charset="0"/>
              <a:cs typeface="Times" panose="02020603050405020304" pitchFamily="18" charset="0"/>
            </a:endParaRPr>
          </a:p>
          <a:p>
            <a:pPr marL="457200" marR="0" lvl="0" indent="-457200" algn="just"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chemeClr val="tx1"/>
                </a:solidFill>
                <a:effectLst/>
                <a:latin typeface="Times" panose="02020603050405020304" pitchFamily="18" charset="0"/>
                <a:cs typeface="Times" panose="02020603050405020304" pitchFamily="18" charset="0"/>
              </a:rPr>
              <a:t>Vue.js Official Documentation – </a:t>
            </a:r>
            <a:r>
              <a:rPr kumimoji="0" lang="en-US" altLang="en-US" sz="2000" b="0" i="1" u="none" strike="noStrike" cap="none" normalizeH="0" baseline="0" dirty="0">
                <a:ln>
                  <a:noFill/>
                </a:ln>
                <a:solidFill>
                  <a:schemeClr val="tx1"/>
                </a:solidFill>
                <a:effectLst/>
                <a:latin typeface="Times" panose="02020603050405020304" pitchFamily="18" charset="0"/>
                <a:cs typeface="Times" panose="02020603050405020304" pitchFamily="18" charset="0"/>
                <a:hlinkClick r:id="rId3"/>
              </a:rPr>
              <a:t>https://vuejs.org</a:t>
            </a:r>
            <a:endParaRPr kumimoji="0" lang="en-US" altLang="en-US" sz="2000" b="0" i="0" u="none" strike="noStrike" cap="none" normalizeH="0" baseline="0" dirty="0">
              <a:ln>
                <a:noFill/>
              </a:ln>
              <a:solidFill>
                <a:schemeClr val="tx1"/>
              </a:solidFill>
              <a:effectLst/>
              <a:latin typeface="Times" panose="02020603050405020304" pitchFamily="18" charset="0"/>
              <a:cs typeface="Times" panose="02020603050405020304" pitchFamily="18" charset="0"/>
            </a:endParaRPr>
          </a:p>
          <a:p>
            <a:pPr marL="457200" marR="0" lvl="0" indent="-457200" algn="just"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chemeClr val="tx1"/>
                </a:solidFill>
                <a:effectLst/>
                <a:latin typeface="Times" panose="02020603050405020304" pitchFamily="18" charset="0"/>
                <a:cs typeface="Times" panose="02020603050405020304" pitchFamily="18" charset="0"/>
              </a:rPr>
              <a:t>MySQL Documentation – </a:t>
            </a:r>
            <a:r>
              <a:rPr kumimoji="0" lang="en-US" altLang="en-US" sz="2000" b="0" i="1" u="none" strike="noStrike" cap="none" normalizeH="0" baseline="0" dirty="0">
                <a:ln>
                  <a:noFill/>
                </a:ln>
                <a:solidFill>
                  <a:schemeClr val="tx1"/>
                </a:solidFill>
                <a:effectLst/>
                <a:latin typeface="Times" panose="02020603050405020304" pitchFamily="18" charset="0"/>
                <a:cs typeface="Times" panose="02020603050405020304" pitchFamily="18" charset="0"/>
                <a:hlinkClick r:id="rId4"/>
              </a:rPr>
              <a:t>https://dev.mysql.com/doc/</a:t>
            </a:r>
            <a:endParaRPr kumimoji="0" lang="en-US" altLang="en-US" sz="2000" b="0" i="0" u="none" strike="noStrike" cap="none" normalizeH="0" baseline="0" dirty="0">
              <a:ln>
                <a:noFill/>
              </a:ln>
              <a:solidFill>
                <a:schemeClr val="tx1"/>
              </a:solidFill>
              <a:effectLst/>
              <a:latin typeface="Times" panose="02020603050405020304" pitchFamily="18" charset="0"/>
              <a:cs typeface="Times" panose="02020603050405020304" pitchFamily="18" charset="0"/>
            </a:endParaRPr>
          </a:p>
          <a:p>
            <a:pPr marL="457200" marR="0" lvl="0" indent="-457200" algn="just"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000" b="0" i="0" u="none" strike="noStrike" cap="none" normalizeH="0" baseline="0" dirty="0" err="1">
                <a:ln>
                  <a:noFill/>
                </a:ln>
                <a:solidFill>
                  <a:schemeClr val="tx1"/>
                </a:solidFill>
                <a:effectLst/>
                <a:latin typeface="Times" panose="02020603050405020304" pitchFamily="18" charset="0"/>
                <a:cs typeface="Times" panose="02020603050405020304" pitchFamily="18" charset="0"/>
              </a:rPr>
              <a:t>SQLAlchemy</a:t>
            </a:r>
            <a:r>
              <a:rPr kumimoji="0" lang="en-US" altLang="en-US" sz="2000" b="0" i="0" u="none" strike="noStrike" cap="none" normalizeH="0" baseline="0" dirty="0">
                <a:ln>
                  <a:noFill/>
                </a:ln>
                <a:solidFill>
                  <a:schemeClr val="tx1"/>
                </a:solidFill>
                <a:effectLst/>
                <a:latin typeface="Times" panose="02020603050405020304" pitchFamily="18" charset="0"/>
                <a:cs typeface="Times" panose="02020603050405020304" pitchFamily="18" charset="0"/>
              </a:rPr>
              <a:t> Documentation – </a:t>
            </a:r>
            <a:r>
              <a:rPr kumimoji="0" lang="en-US" altLang="en-US" sz="2000" b="0" i="1" u="none" strike="noStrike" cap="none" normalizeH="0" baseline="0" dirty="0">
                <a:ln>
                  <a:noFill/>
                </a:ln>
                <a:solidFill>
                  <a:schemeClr val="tx1"/>
                </a:solidFill>
                <a:effectLst/>
                <a:latin typeface="Times" panose="02020603050405020304" pitchFamily="18" charset="0"/>
                <a:cs typeface="Times" panose="02020603050405020304" pitchFamily="18" charset="0"/>
                <a:hlinkClick r:id="rId5"/>
              </a:rPr>
              <a:t>https://docs.sqlalchemy.org</a:t>
            </a:r>
            <a:endParaRPr kumimoji="0" lang="en-US" altLang="en-US" sz="2000" b="0" i="0" u="none" strike="noStrike" cap="none" normalizeH="0" baseline="0" dirty="0">
              <a:ln>
                <a:noFill/>
              </a:ln>
              <a:solidFill>
                <a:schemeClr val="tx1"/>
              </a:solidFill>
              <a:effectLst/>
              <a:latin typeface="Times" panose="02020603050405020304" pitchFamily="18" charset="0"/>
              <a:cs typeface="Times" panose="02020603050405020304" pitchFamily="18" charset="0"/>
            </a:endParaRPr>
          </a:p>
          <a:p>
            <a:pPr marL="457200" marR="0" lvl="0" indent="-457200" algn="just"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chemeClr val="tx1"/>
                </a:solidFill>
                <a:effectLst/>
                <a:latin typeface="Times" panose="02020603050405020304" pitchFamily="18" charset="0"/>
                <a:cs typeface="Times" panose="02020603050405020304" pitchFamily="18" charset="0"/>
              </a:rPr>
              <a:t>JWT Authentication Standard – </a:t>
            </a:r>
            <a:r>
              <a:rPr kumimoji="0" lang="en-US" altLang="en-US" sz="2000" b="0" i="1" u="none" strike="noStrike" cap="none" normalizeH="0" baseline="0" dirty="0">
                <a:ln>
                  <a:noFill/>
                </a:ln>
                <a:solidFill>
                  <a:schemeClr val="tx1"/>
                </a:solidFill>
                <a:effectLst/>
                <a:latin typeface="Times" panose="02020603050405020304" pitchFamily="18" charset="0"/>
                <a:cs typeface="Times" panose="02020603050405020304" pitchFamily="18" charset="0"/>
                <a:hlinkClick r:id="rId6"/>
              </a:rPr>
              <a:t>https://jwt.io/introduction</a:t>
            </a:r>
            <a:endParaRPr kumimoji="0" lang="en-US" altLang="en-US" sz="2000" b="0" i="0" u="none" strike="noStrike" cap="none" normalizeH="0" baseline="0" dirty="0">
              <a:ln>
                <a:noFill/>
              </a:ln>
              <a:solidFill>
                <a:schemeClr val="tx1"/>
              </a:solidFill>
              <a:effectLst/>
              <a:latin typeface="Times" panose="02020603050405020304" pitchFamily="18" charset="0"/>
              <a:cs typeface="Times" panose="02020603050405020304" pitchFamily="18" charset="0"/>
            </a:endParaRPr>
          </a:p>
          <a:p>
            <a:pPr marL="457200" marR="0" lvl="0" indent="-457200" algn="just"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chemeClr val="tx1"/>
                </a:solidFill>
                <a:effectLst/>
                <a:latin typeface="Times" panose="02020603050405020304" pitchFamily="18" charset="0"/>
                <a:cs typeface="Times" panose="02020603050405020304" pitchFamily="18" charset="0"/>
              </a:rPr>
              <a:t>Pressman, R. S., </a:t>
            </a:r>
            <a:r>
              <a:rPr kumimoji="0" lang="en-US" altLang="en-US" sz="2000" b="1" i="0" u="none" strike="noStrike" cap="none" normalizeH="0" baseline="0" dirty="0">
                <a:ln>
                  <a:noFill/>
                </a:ln>
                <a:solidFill>
                  <a:schemeClr val="tx1"/>
                </a:solidFill>
                <a:effectLst/>
                <a:latin typeface="Times" panose="02020603050405020304" pitchFamily="18" charset="0"/>
                <a:cs typeface="Times" panose="02020603050405020304" pitchFamily="18" charset="0"/>
              </a:rPr>
              <a:t>Software Engineering: A Practitioner’s Approach</a:t>
            </a:r>
            <a:r>
              <a:rPr kumimoji="0" lang="en-US" altLang="en-US" sz="2000" b="0" i="0" u="none" strike="noStrike" cap="none" normalizeH="0" baseline="0" dirty="0">
                <a:ln>
                  <a:noFill/>
                </a:ln>
                <a:solidFill>
                  <a:schemeClr val="tx1"/>
                </a:solidFill>
                <a:effectLst/>
                <a:latin typeface="Times" panose="02020603050405020304" pitchFamily="18" charset="0"/>
                <a:cs typeface="Times" panose="02020603050405020304" pitchFamily="18" charset="0"/>
              </a:rPr>
              <a:t>, McGraw-Hill.</a:t>
            </a:r>
          </a:p>
          <a:p>
            <a:pPr marL="457200" marR="0" lvl="0" indent="-457200" algn="just"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chemeClr val="tx1"/>
                </a:solidFill>
                <a:effectLst/>
                <a:latin typeface="Times" panose="02020603050405020304" pitchFamily="18" charset="0"/>
                <a:cs typeface="Times" panose="02020603050405020304" pitchFamily="18" charset="0"/>
              </a:rPr>
              <a:t>Sommerville, I., </a:t>
            </a:r>
            <a:r>
              <a:rPr kumimoji="0" lang="en-US" altLang="en-US" sz="2000" b="1" i="0" u="none" strike="noStrike" cap="none" normalizeH="0" baseline="0" dirty="0">
                <a:ln>
                  <a:noFill/>
                </a:ln>
                <a:solidFill>
                  <a:schemeClr val="tx1"/>
                </a:solidFill>
                <a:effectLst/>
                <a:latin typeface="Times" panose="02020603050405020304" pitchFamily="18" charset="0"/>
                <a:cs typeface="Times" panose="02020603050405020304" pitchFamily="18" charset="0"/>
              </a:rPr>
              <a:t>Software Engineering</a:t>
            </a:r>
            <a:r>
              <a:rPr kumimoji="0" lang="en-US" altLang="en-US" sz="2000" b="0" i="0" u="none" strike="noStrike" cap="none" normalizeH="0" baseline="0" dirty="0">
                <a:ln>
                  <a:noFill/>
                </a:ln>
                <a:solidFill>
                  <a:schemeClr val="tx1"/>
                </a:solidFill>
                <a:effectLst/>
                <a:latin typeface="Times" panose="02020603050405020304" pitchFamily="18" charset="0"/>
                <a:cs typeface="Times" panose="02020603050405020304" pitchFamily="18" charset="0"/>
              </a:rPr>
              <a:t>, Pearson Education.</a:t>
            </a:r>
          </a:p>
          <a:p>
            <a:pPr marL="457200" marR="0" lvl="0" indent="-457200" algn="just"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chemeClr val="tx1"/>
                </a:solidFill>
                <a:effectLst/>
                <a:latin typeface="Times" panose="02020603050405020304" pitchFamily="18" charset="0"/>
                <a:cs typeface="Times" panose="02020603050405020304" pitchFamily="18" charset="0"/>
              </a:rPr>
              <a:t>NGO Management System Concepts – </a:t>
            </a:r>
            <a:r>
              <a:rPr kumimoji="0" lang="en-US" altLang="en-US" sz="2000" b="0" i="1" u="none" strike="noStrike" cap="none" normalizeH="0" baseline="0" dirty="0">
                <a:ln>
                  <a:noFill/>
                </a:ln>
                <a:solidFill>
                  <a:schemeClr val="tx1"/>
                </a:solidFill>
                <a:effectLst/>
                <a:latin typeface="Times" panose="02020603050405020304" pitchFamily="18" charset="0"/>
                <a:cs typeface="Times" panose="02020603050405020304" pitchFamily="18" charset="0"/>
                <a:hlinkClick r:id="rId7"/>
              </a:rPr>
              <a:t>https://www.techopedia.com</a:t>
            </a:r>
            <a:endParaRPr kumimoji="0" lang="en-US" altLang="en-US" sz="2000" b="0" i="0" u="none" strike="noStrike" cap="none" normalizeH="0" baseline="0" dirty="0">
              <a:ln>
                <a:noFill/>
              </a:ln>
              <a:solidFill>
                <a:schemeClr val="tx1"/>
              </a:solidFill>
              <a:effectLst/>
              <a:latin typeface="Times" panose="02020603050405020304" pitchFamily="18" charset="0"/>
              <a:cs typeface="Times" panose="02020603050405020304" pitchFamily="18" charset="0"/>
            </a:endParaRPr>
          </a:p>
          <a:p>
            <a:pPr marL="457200" marR="0" lvl="0" indent="-457200" algn="just"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chemeClr val="tx1"/>
                </a:solidFill>
                <a:effectLst/>
                <a:latin typeface="Times" panose="02020603050405020304" pitchFamily="18" charset="0"/>
                <a:cs typeface="Times" panose="02020603050405020304" pitchFamily="18" charset="0"/>
              </a:rPr>
              <a:t>UML and DFD Standards – </a:t>
            </a:r>
            <a:r>
              <a:rPr kumimoji="0" lang="en-US" altLang="en-US" sz="2000" b="0" i="1" u="none" strike="noStrike" cap="none" normalizeH="0" baseline="0" dirty="0">
                <a:ln>
                  <a:noFill/>
                </a:ln>
                <a:solidFill>
                  <a:schemeClr val="tx1"/>
                </a:solidFill>
                <a:effectLst/>
                <a:latin typeface="Times" panose="02020603050405020304" pitchFamily="18" charset="0"/>
                <a:cs typeface="Times" panose="02020603050405020304" pitchFamily="18" charset="0"/>
                <a:hlinkClick r:id="rId8"/>
              </a:rPr>
              <a:t>https://www.visual-paradigm.com</a:t>
            </a:r>
            <a:endParaRPr kumimoji="0" lang="en-US" altLang="en-US" sz="2000" b="0" i="0" u="none" strike="noStrike" cap="none" normalizeH="0" baseline="0" dirty="0">
              <a:ln>
                <a:noFill/>
              </a:ln>
              <a:solidFill>
                <a:schemeClr val="tx1"/>
              </a:solidFill>
              <a:effectLst/>
              <a:latin typeface="Times" panose="02020603050405020304" pitchFamily="18" charset="0"/>
              <a:cs typeface="Times" panose="02020603050405020304" pitchFamily="18" charset="0"/>
            </a:endParaRPr>
          </a:p>
        </p:txBody>
      </p:sp>
    </p:spTree>
    <p:extLst>
      <p:ext uri="{BB962C8B-B14F-4D97-AF65-F5344CB8AC3E}">
        <p14:creationId xmlns:p14="http://schemas.microsoft.com/office/powerpoint/2010/main" val="23303708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3388F9-7CB4-4BAA-B9D9-E9BE91A3456C}"/>
              </a:ext>
            </a:extLst>
          </p:cNvPr>
          <p:cNvSpPr>
            <a:spLocks noGrp="1"/>
          </p:cNvSpPr>
          <p:nvPr>
            <p:ph type="title"/>
          </p:nvPr>
        </p:nvSpPr>
        <p:spPr>
          <a:xfrm>
            <a:off x="838200" y="2766218"/>
            <a:ext cx="10515600" cy="1325563"/>
          </a:xfrm>
        </p:spPr>
        <p:txBody>
          <a:bodyPr/>
          <a:lstStyle/>
          <a:p>
            <a:pPr algn="ctr"/>
            <a:r>
              <a:rPr lang="en-US" b="1" dirty="0">
                <a:latin typeface="Times New Roman" panose="02020603050405020304" pitchFamily="18" charset="0"/>
                <a:cs typeface="Times New Roman" panose="02020603050405020304" pitchFamily="18" charset="0"/>
              </a:rPr>
              <a:t>THANK YOU</a:t>
            </a:r>
            <a:endParaRPr lang="en-IN" b="1" dirty="0">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r>
              <a:rPr lang="en-IN"/>
              <a:t>NGO MANAGEMENT SOFTWARE</a:t>
            </a:r>
          </a:p>
        </p:txBody>
      </p:sp>
      <p:sp>
        <p:nvSpPr>
          <p:cNvPr id="5" name="Slide Number Placeholder 4"/>
          <p:cNvSpPr>
            <a:spLocks noGrp="1"/>
          </p:cNvSpPr>
          <p:nvPr>
            <p:ph type="sldNum" sz="quarter" idx="12"/>
          </p:nvPr>
        </p:nvSpPr>
        <p:spPr/>
        <p:txBody>
          <a:bodyPr/>
          <a:lstStyle/>
          <a:p>
            <a:fld id="{EC723807-FF10-4730-B603-EA98888C76C4}" type="slidenum">
              <a:rPr lang="en-IN" smtClean="0"/>
              <a:t>22</a:t>
            </a:fld>
            <a:endParaRPr lang="en-IN"/>
          </a:p>
        </p:txBody>
      </p:sp>
    </p:spTree>
    <p:extLst>
      <p:ext uri="{BB962C8B-B14F-4D97-AF65-F5344CB8AC3E}">
        <p14:creationId xmlns:p14="http://schemas.microsoft.com/office/powerpoint/2010/main" val="34891621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5207</TotalTime>
  <Words>1102</Words>
  <Application>Microsoft Office PowerPoint</Application>
  <PresentationFormat>Widescreen</PresentationFormat>
  <Paragraphs>232</Paragraphs>
  <Slides>22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Microsoft YaHei UI</vt:lpstr>
      <vt:lpstr>Arial</vt:lpstr>
      <vt:lpstr>Arial Black</vt:lpstr>
      <vt:lpstr>Calibri</vt:lpstr>
      <vt:lpstr>Calibri Light</vt:lpstr>
      <vt:lpstr>Times</vt:lpstr>
      <vt:lpstr>Times New Roman</vt:lpstr>
      <vt:lpstr>Office Theme</vt:lpstr>
      <vt:lpstr>PowerPoint Presentation</vt:lpstr>
      <vt:lpstr>COMPANY PROFILE </vt:lpstr>
      <vt:lpstr>ABSTRACT</vt:lpstr>
      <vt:lpstr>PROBLEM STATEMENT</vt:lpstr>
      <vt:lpstr>OBJECTIVES </vt:lpstr>
      <vt:lpstr>EXISTING SYSTEM </vt:lpstr>
      <vt:lpstr>LIMITATIONS OF EXISTING SYSTEM </vt:lpstr>
      <vt:lpstr>PROPOSED SYSTEM </vt:lpstr>
      <vt:lpstr>ADVANTAGES OF PROPOSED SYSTEM </vt:lpstr>
      <vt:lpstr>HARDWARE SPECIFICATION</vt:lpstr>
      <vt:lpstr> SOFTWARE SPECIFICATION </vt:lpstr>
      <vt:lpstr>TIME LINE CHART</vt:lpstr>
      <vt:lpstr>SYSTEM DESIGN</vt:lpstr>
      <vt:lpstr>SYSTEM DESIGN</vt:lpstr>
      <vt:lpstr>DATABASE DESIGN</vt:lpstr>
      <vt:lpstr>DATABASE DESIGN</vt:lpstr>
      <vt:lpstr>DATABASE DESIGN</vt:lpstr>
      <vt:lpstr>DATABASE DESIGN</vt:lpstr>
      <vt:lpstr>SYSTEM DESIGN</vt:lpstr>
      <vt:lpstr>SYSTEM DESIGN</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DNS server management secures communication and data sharing</dc:title>
  <dc:creator>LOGAPRIYA M</dc:creator>
  <cp:lastModifiedBy>shanthini hannah</cp:lastModifiedBy>
  <cp:revision>136</cp:revision>
  <dcterms:created xsi:type="dcterms:W3CDTF">2023-03-31T08:44:10Z</dcterms:created>
  <dcterms:modified xsi:type="dcterms:W3CDTF">2026-02-05T16:07:54Z</dcterms:modified>
</cp:coreProperties>
</file>